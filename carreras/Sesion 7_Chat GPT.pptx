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54"/>
  </p:notesMasterIdLst>
  <p:sldIdLst>
    <p:sldId id="256" r:id="rId3"/>
    <p:sldId id="257" r:id="rId4"/>
    <p:sldId id="258" r:id="rId5"/>
    <p:sldId id="281" r:id="rId6"/>
    <p:sldId id="282" r:id="rId7"/>
    <p:sldId id="260" r:id="rId8"/>
    <p:sldId id="264" r:id="rId9"/>
    <p:sldId id="284" r:id="rId10"/>
    <p:sldId id="285" r:id="rId11"/>
    <p:sldId id="286" r:id="rId12"/>
    <p:sldId id="283" r:id="rId13"/>
    <p:sldId id="288" r:id="rId14"/>
    <p:sldId id="287" r:id="rId15"/>
    <p:sldId id="269" r:id="rId16"/>
    <p:sldId id="270" r:id="rId17"/>
    <p:sldId id="271" r:id="rId18"/>
    <p:sldId id="290" r:id="rId19"/>
    <p:sldId id="292" r:id="rId20"/>
    <p:sldId id="273" r:id="rId21"/>
    <p:sldId id="291" r:id="rId22"/>
    <p:sldId id="293" r:id="rId23"/>
    <p:sldId id="274" r:id="rId24"/>
    <p:sldId id="294" r:id="rId25"/>
    <p:sldId id="295" r:id="rId26"/>
    <p:sldId id="277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13" r:id="rId51"/>
    <p:sldId id="279" r:id="rId52"/>
    <p:sldId id="280" r:id="rId53"/>
  </p:sldIdLst>
  <p:sldSz cx="12192000" cy="6858000"/>
  <p:notesSz cx="12192000" cy="6858000"/>
  <p:embeddedFontLst>
    <p:embeddedFont>
      <p:font typeface="Cambria" panose="02040503050406030204" pitchFamily="18" charset="0"/>
      <p:regular r:id="rId55"/>
      <p:bold r:id="rId56"/>
      <p:italic r:id="rId57"/>
      <p:boldItalic r:id="rId58"/>
    </p:embeddedFont>
    <p:embeddedFont>
      <p:font typeface="Candara" panose="020E0502030303020204" pitchFamily="34" charset="0"/>
      <p:regular r:id="rId59"/>
      <p:bold r:id="rId60"/>
      <p:italic r:id="rId61"/>
      <p:boldItalic r:id="rId62"/>
    </p:embeddedFont>
    <p:embeddedFont>
      <p:font typeface="Trebuchet MS" panose="020B0603020202020204" pitchFamily="3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000000"/>
          </p15:clr>
        </p15:guide>
        <p15:guide id="2" pos="244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BC4E1-CFE4-1781-56BA-0846EA51ABF8}" v="835" dt="2025-05-22T08:15:27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9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3.xml"/><Relationship Id="rId61" Type="http://schemas.openxmlformats.org/officeDocument/2006/relationships/font" Target="fonts/font7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5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268433b67_2_1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5268433b67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268433b67_2_1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5268433b67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268433b67_0_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5268433b6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B1B34D7B-E2DA-1113-A363-05ABD9FE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268433b67_2_157:notes">
            <a:extLst>
              <a:ext uri="{FF2B5EF4-FFF2-40B4-BE49-F238E27FC236}">
                <a16:creationId xmlns:a16="http://schemas.microsoft.com/office/drawing/2014/main" id="{061468CB-7783-AA08-A07F-7A8622733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5268433b67_2_157:notes">
            <a:extLst>
              <a:ext uri="{FF2B5EF4-FFF2-40B4-BE49-F238E27FC236}">
                <a16:creationId xmlns:a16="http://schemas.microsoft.com/office/drawing/2014/main" id="{9975EC29-10AB-2CB8-0C46-341E51C23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857250"/>
            <a:ext cx="97536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4129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7CB46F8-DC3D-A513-8DB5-6277EB4F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268433b67_2_138:notes">
            <a:extLst>
              <a:ext uri="{FF2B5EF4-FFF2-40B4-BE49-F238E27FC236}">
                <a16:creationId xmlns:a16="http://schemas.microsoft.com/office/drawing/2014/main" id="{3FB03B65-61C6-0D84-DE95-AEE529838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5268433b67_2_138:notes">
            <a:extLst>
              <a:ext uri="{FF2B5EF4-FFF2-40B4-BE49-F238E27FC236}">
                <a16:creationId xmlns:a16="http://schemas.microsoft.com/office/drawing/2014/main" id="{FDF7E472-C89A-A4DA-CAB6-8E301E5BB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8479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268433b67_2_1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5268433b67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9016B147-2A48-0155-92F0-D7F19316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11738E38-775A-57DC-1E4F-AC2DCA4B4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9B69B1EC-8C86-9AE9-5391-E426E9471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90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3A336639-254C-4955-3A71-E00EA4D9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676028C8-D258-B8A4-69B5-FFB490575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3C93E196-EB13-959A-F4CA-F549566D9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6595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050C88CF-34C9-1313-303D-0080FA0B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228B357E-B15A-2671-BAF1-022C28D40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2587871C-F3B0-237A-58A3-3259D7DA2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701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6200CD4-F997-25C5-3260-33DEEFE1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268433b67_2_138:notes">
            <a:extLst>
              <a:ext uri="{FF2B5EF4-FFF2-40B4-BE49-F238E27FC236}">
                <a16:creationId xmlns:a16="http://schemas.microsoft.com/office/drawing/2014/main" id="{C19FDB95-752E-B248-F3B6-AB4D9E286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5268433b67_2_138:notes">
            <a:extLst>
              <a:ext uri="{FF2B5EF4-FFF2-40B4-BE49-F238E27FC236}">
                <a16:creationId xmlns:a16="http://schemas.microsoft.com/office/drawing/2014/main" id="{AE413BF5-6921-E775-21A0-E3B40DA77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6164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E22D100-B6F7-F63E-2374-9338F08F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268433b67_2_138:notes">
            <a:extLst>
              <a:ext uri="{FF2B5EF4-FFF2-40B4-BE49-F238E27FC236}">
                <a16:creationId xmlns:a16="http://schemas.microsoft.com/office/drawing/2014/main" id="{B0FDB58F-9A94-15BC-36D9-A3B51FA5C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5268433b67_2_138:notes">
            <a:extLst>
              <a:ext uri="{FF2B5EF4-FFF2-40B4-BE49-F238E27FC236}">
                <a16:creationId xmlns:a16="http://schemas.microsoft.com/office/drawing/2014/main" id="{96D95261-72F0-0C09-8516-42F276001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858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44507CB-F538-189E-5124-3BB2B8CB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268433b67_2_138:notes">
            <a:extLst>
              <a:ext uri="{FF2B5EF4-FFF2-40B4-BE49-F238E27FC236}">
                <a16:creationId xmlns:a16="http://schemas.microsoft.com/office/drawing/2014/main" id="{AECBCC71-0B29-768E-3653-783B5AE50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5268433b67_2_138:notes">
            <a:extLst>
              <a:ext uri="{FF2B5EF4-FFF2-40B4-BE49-F238E27FC236}">
                <a16:creationId xmlns:a16="http://schemas.microsoft.com/office/drawing/2014/main" id="{DA497817-8C1B-D831-7113-001C98E79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3251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268433b67_2_1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5268433b67_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268433b67_0_1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5268433b6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4251F028-3A32-44C5-F6B6-660C6527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FE96FE97-DD51-A4F5-1D5B-A3103DE26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C8F84B10-E11F-3221-A8D8-DA79E33A4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4225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A9667F5-1980-EF6E-B958-3FD953A5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2071DE38-4476-3578-587C-175F0B67E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0A8A2233-7EE6-32E5-7164-F0F03750B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2177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68433b67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5268433b67_2_1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64" name="Google Shape;264;g35268433b67_2_161:notes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9D824664-770A-1B88-96B3-BF8F55F8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68433b67_2_161:notes">
            <a:extLst>
              <a:ext uri="{FF2B5EF4-FFF2-40B4-BE49-F238E27FC236}">
                <a16:creationId xmlns:a16="http://schemas.microsoft.com/office/drawing/2014/main" id="{0EE48D0E-65BA-CE04-20B0-4F695864D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5268433b67_2_161:notes">
            <a:extLst>
              <a:ext uri="{FF2B5EF4-FFF2-40B4-BE49-F238E27FC236}">
                <a16:creationId xmlns:a16="http://schemas.microsoft.com/office/drawing/2014/main" id="{BBF50C91-D9DB-0DAD-42CD-22EF21B29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64" name="Google Shape;264;g35268433b67_2_161:notes">
            <a:extLst>
              <a:ext uri="{FF2B5EF4-FFF2-40B4-BE49-F238E27FC236}">
                <a16:creationId xmlns:a16="http://schemas.microsoft.com/office/drawing/2014/main" id="{D48F8996-200C-8CB0-894F-500B0BB711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4422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DC66F0FF-3CFA-5579-EFCB-A43952C9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68433b67_2_161:notes">
            <a:extLst>
              <a:ext uri="{FF2B5EF4-FFF2-40B4-BE49-F238E27FC236}">
                <a16:creationId xmlns:a16="http://schemas.microsoft.com/office/drawing/2014/main" id="{479A18A6-3DC8-DF12-041E-D688BEB90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5268433b67_2_161:notes">
            <a:extLst>
              <a:ext uri="{FF2B5EF4-FFF2-40B4-BE49-F238E27FC236}">
                <a16:creationId xmlns:a16="http://schemas.microsoft.com/office/drawing/2014/main" id="{AE09CD84-BDBB-C450-0001-EB661D16A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64" name="Google Shape;264;g35268433b67_2_161:notes">
            <a:extLst>
              <a:ext uri="{FF2B5EF4-FFF2-40B4-BE49-F238E27FC236}">
                <a16:creationId xmlns:a16="http://schemas.microsoft.com/office/drawing/2014/main" id="{BE3FE63E-4F7C-B3F0-9FE6-C9113033E2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2718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24CCF4B4-F14A-1751-B25F-C696DB6D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4B5E5A4F-FEFF-CEC8-A115-CD11860F1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362461BB-B42F-1785-CD29-C537B5BE8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343C0DD8-12E4-E2DB-40C8-4E78F6C178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5531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71E99D5-BED5-4497-B738-01BFC6F4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AE7CAF7F-9A20-430E-8B9A-C7B8ABDF6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A9E51AA3-F461-F446-D021-855CCC929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5344CA95-171B-5E6D-D1EC-E6911C0993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173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268433b67_0_4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5268433b6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C1884DBD-0552-291C-EEEB-FD523DD0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268433b67_0_43:notes">
            <a:extLst>
              <a:ext uri="{FF2B5EF4-FFF2-40B4-BE49-F238E27FC236}">
                <a16:creationId xmlns:a16="http://schemas.microsoft.com/office/drawing/2014/main" id="{C58C49E9-47FE-A7C5-209B-500F529D5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5268433b67_0_43:notes">
            <a:extLst>
              <a:ext uri="{FF2B5EF4-FFF2-40B4-BE49-F238E27FC236}">
                <a16:creationId xmlns:a16="http://schemas.microsoft.com/office/drawing/2014/main" id="{B8C07B65-B422-0380-EBD3-7574B71D0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8291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54876C08-BFC3-8F46-244F-94C19B1B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1F78620F-1FD9-30F7-A922-55E46357F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E96AA238-0810-2907-103E-41F935BEE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70799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24EAA051-6591-16C3-F022-B3265B6F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39F3627C-C552-D624-5745-64960C3E6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BD2A70B5-73FB-3485-4A18-65C66F883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69596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434CD941-2FF3-341B-C793-3BF008E5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45201F80-E0E3-792B-3A4C-9E5EA1F37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D3E1DF5F-731F-4FEC-F655-E3263D2F4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1794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D9FCA7B4-7042-68F4-FCF5-970DA627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1DAC8E8D-B444-A5E3-5AB9-0486B6488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0DFC645C-680F-B983-54A3-831D5C21A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28566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4EA22D1-475E-E02C-F68C-DDB219CD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19A38C5A-2404-A2D9-C1B4-A927AF663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FA5ECFAA-CC15-8BAA-0791-B2724E6EC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4829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0CCF12B6-1577-E061-3A5B-DB7C23E6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240655C1-8A26-94DE-DBA9-1843EF69A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95C55A98-45EB-40A7-7D26-3FF7B3E0D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0DB74DF3-8C9E-EC53-4F35-942EB0B93D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29592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75AD0C21-11C0-7082-EAC5-F962A3CD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60FFBA84-3738-0007-9D89-37B351854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3A95C6BC-D974-1E9E-9C27-F27BC9607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F4CE3C46-E817-A878-BE9B-BD5809CAD3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06573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781FF7E-2620-10AC-E60C-2FEC56BA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87005E4E-D636-425B-559C-0F744E565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1484BA4B-A12C-05E8-DB8C-57188E6D4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3945D4E6-3D0C-2682-3BCC-609BEB258A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21415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59945F16-3188-50E4-D634-BCDD6302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8DBD2E47-EE79-ED8A-0C81-CED217CF1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6E46AB8D-8AF6-A82F-E3DC-3B1E4FC97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7F9775DF-52EA-B9F5-54A4-6634BE8673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6700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171D688-745C-4677-3164-F099C3DB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268433b67_2_168:notes">
            <a:extLst>
              <a:ext uri="{FF2B5EF4-FFF2-40B4-BE49-F238E27FC236}">
                <a16:creationId xmlns:a16="http://schemas.microsoft.com/office/drawing/2014/main" id="{6183BF63-6A86-44BF-9545-D26BD567C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5268433b67_2_168:notes">
            <a:extLst>
              <a:ext uri="{FF2B5EF4-FFF2-40B4-BE49-F238E27FC236}">
                <a16:creationId xmlns:a16="http://schemas.microsoft.com/office/drawing/2014/main" id="{0AF52CE5-28A5-9C76-6155-4D29DC8CE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274" name="Google Shape;274;g35268433b67_2_168:notes">
            <a:extLst>
              <a:ext uri="{FF2B5EF4-FFF2-40B4-BE49-F238E27FC236}">
                <a16:creationId xmlns:a16="http://schemas.microsoft.com/office/drawing/2014/main" id="{25270F5A-DBB3-0A45-488D-F7879A5AA1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940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D45CA802-9302-35D1-EB7E-248890C9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04BEEF81-E043-0C7B-8B6E-433BAA69F4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6E68CC4A-0057-097E-28C3-2D77F6A75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5831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136758E2-D6C4-FCF4-795B-8429C59C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6EBE5A68-4EE3-D413-8E01-0E3E4B36D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D9E62169-4B8A-469C-DC40-CABD3B1E6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84565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71D35E77-5A9D-2348-F623-0CD91E47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2F67C505-8FF0-69CF-14E9-82A06A152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E15E6AE4-0869-B650-F12E-E488B72D9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31956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5BE86AF7-1870-5C89-D9EB-6A6AC404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FBD587F3-6057-CCE1-8AC3-67360E9F9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A8D04937-4D1A-EA27-0181-29763193C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7600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1998F7E0-F582-910F-6FEC-F3C0784A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68433b67_2_176:notes">
            <a:extLst>
              <a:ext uri="{FF2B5EF4-FFF2-40B4-BE49-F238E27FC236}">
                <a16:creationId xmlns:a16="http://schemas.microsoft.com/office/drawing/2014/main" id="{C280DA1B-B68C-F4E8-BFDE-F670900C4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268433b67_2_176:notes">
            <a:extLst>
              <a:ext uri="{FF2B5EF4-FFF2-40B4-BE49-F238E27FC236}">
                <a16:creationId xmlns:a16="http://schemas.microsoft.com/office/drawing/2014/main" id="{A9FCD30A-57E0-2A2B-6FEF-AC85F3593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15808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46B11A3F-738D-41F6-A70E-30EECF5B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9687B268-DFA8-FDC7-3751-B79FFF69E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51BF4AD5-460D-A82E-B4CB-F5539110D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857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89762727-A005-9B6B-30CE-DFBA7F4B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CC04ED5A-E399-1215-006C-E51C32579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65D00E72-51E1-C9FC-1CC4-C5C9ACA8B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78737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9487A25B-3E4A-E61D-8945-57F18BA2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58B7B084-68E0-1B7B-3981-BCF5998E9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168E8F4A-16E1-61DA-7636-7A74D5D3D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9402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4E79F3D-D900-5D3D-AFA8-2263D1FC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14A056B2-93CE-34B1-46BF-1FA7C3EBB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174F80B2-E3CB-A691-BB7A-3C33D0804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54627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EE9D5AB9-37D5-C9F2-41D9-73ADA40F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C19DE436-3656-ABC4-42D3-A6F907A82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9A0AC535-E75B-17C4-FEAC-C7489C882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28107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365243D9-D4E6-B121-7169-E17309F3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C28E22EF-31FD-26B8-B69A-E5580F55F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07FC1E83-4546-902B-2AA0-E7D4D86619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37512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8D940AAB-9532-4E03-2A01-AB1D7045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268433b67_0_141:notes">
            <a:extLst>
              <a:ext uri="{FF2B5EF4-FFF2-40B4-BE49-F238E27FC236}">
                <a16:creationId xmlns:a16="http://schemas.microsoft.com/office/drawing/2014/main" id="{538DD1C8-0C54-47AF-D079-D3886A33B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5268433b67_0_141:notes">
            <a:extLst>
              <a:ext uri="{FF2B5EF4-FFF2-40B4-BE49-F238E27FC236}">
                <a16:creationId xmlns:a16="http://schemas.microsoft.com/office/drawing/2014/main" id="{CD93BB32-8E61-E4DF-2595-DE787B3AA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1455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268433b67_2_18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5268433b67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200" y="857250"/>
            <a:ext cx="97536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422109" y="2028048"/>
            <a:ext cx="3347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42424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2541253" y="1107786"/>
            <a:ext cx="7109400" cy="13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78241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Encabezado de sección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649940" y="831757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5038998" y="4722223"/>
            <a:ext cx="1205048" cy="1917568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649940" y="4120446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5191398" y="6222409"/>
            <a:ext cx="1263190" cy="569781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6244046" y="5471032"/>
            <a:ext cx="494851" cy="1061573"/>
          </a:xfrm>
          <a:prstGeom prst="roundRect">
            <a:avLst>
              <a:gd name="adj" fmla="val 120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ítulo y objetos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78224" y="365125"/>
            <a:ext cx="96101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78224" y="2254623"/>
            <a:ext cx="10332231" cy="392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Encabezado de sección">
  <p:cSld name="6_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288740" y="831757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288741" y="4089273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Encabezado de sección">
  <p:cSld name="7_Encabezado de sección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766481" y="831757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766481" y="4120446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Diapositiva de título">
  <p:cSld name="6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8614064" y="5465618"/>
            <a:ext cx="3071428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1742" y="5735782"/>
            <a:ext cx="3082968" cy="40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Encabezado de sección">
  <p:cSld name="8_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649940" y="831757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>
            <a:off x="649940" y="4099664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apositiva de título">
  <p:cSld name="5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24881" y="3760692"/>
            <a:ext cx="6434825" cy="172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00099" y="5481917"/>
            <a:ext cx="3875809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81" y="5694219"/>
            <a:ext cx="3518572" cy="46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8243047" y="665163"/>
            <a:ext cx="347830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8207187" y="4114800"/>
            <a:ext cx="347830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614064" y="5465618"/>
            <a:ext cx="3071428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3040" y="5740325"/>
            <a:ext cx="3406598" cy="45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633844" y="320022"/>
            <a:ext cx="650654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633844" y="3213847"/>
            <a:ext cx="453879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675409" y="5559136"/>
            <a:ext cx="3071428" cy="727219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844" y="5649075"/>
            <a:ext cx="4094019" cy="5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624881" y="3760692"/>
            <a:ext cx="6382870" cy="172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709158" y="5481917"/>
            <a:ext cx="3071428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81" y="5694219"/>
            <a:ext cx="3518572" cy="46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 título">
  <p:cSld name="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6920753" y="553104"/>
            <a:ext cx="466511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6920753" y="3429000"/>
            <a:ext cx="46651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8614064" y="5465618"/>
            <a:ext cx="3071428" cy="72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4355" y="5676353"/>
            <a:ext cx="3761510" cy="499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 título">
  <p:cSld name="4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ctrTitle"/>
          </p:nvPr>
        </p:nvSpPr>
        <p:spPr>
          <a:xfrm>
            <a:off x="5280211" y="3802810"/>
            <a:ext cx="6261847" cy="171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7762008" y="5459506"/>
            <a:ext cx="3875809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486" y="5700264"/>
            <a:ext cx="3518572" cy="46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2321858" y="365125"/>
            <a:ext cx="903194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1205345" y="2254623"/>
            <a:ext cx="10148455" cy="392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578223" y="365125"/>
            <a:ext cx="1102842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578224" y="2254623"/>
            <a:ext cx="11028420" cy="392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578223" y="365125"/>
            <a:ext cx="107755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1990164" y="2254623"/>
            <a:ext cx="9363635" cy="392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objetos">
  <p:cSld name="3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578224" y="365125"/>
            <a:ext cx="96101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578224" y="2254623"/>
            <a:ext cx="10775576" cy="392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7109012" y="576263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1"/>
          </p:nvPr>
        </p:nvSpPr>
        <p:spPr>
          <a:xfrm>
            <a:off x="7109011" y="3652651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385481" y="2082334"/>
            <a:ext cx="4646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1"/>
          </p:nvPr>
        </p:nvSpPr>
        <p:spPr>
          <a:xfrm>
            <a:off x="385481" y="5158722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ncabezado de sección">
  <p:cSld name="3_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7176246" y="1947863"/>
            <a:ext cx="46463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7176245" y="5024251"/>
            <a:ext cx="464633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Encabezado de sección">
  <p:cSld name="4_Encabezado de secció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602673" y="370075"/>
            <a:ext cx="478772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602673" y="4136746"/>
            <a:ext cx="478772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2000"/>
              <a:buNone/>
              <a:defRPr sz="2000">
                <a:solidFill>
                  <a:srgbClr val="8989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800"/>
              <a:buNone/>
              <a:defRPr sz="1800">
                <a:solidFill>
                  <a:srgbClr val="8989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8"/>
              </a:buClr>
              <a:buSzPts val="1600"/>
              <a:buNone/>
              <a:defRPr sz="1600">
                <a:solidFill>
                  <a:srgbClr val="8989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796514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38682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2"/>
          </p:nvPr>
        </p:nvSpPr>
        <p:spPr>
          <a:xfrm>
            <a:off x="4935070" y="1825625"/>
            <a:ext cx="38682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0221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0027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2"/>
          </p:nvPr>
        </p:nvSpPr>
        <p:spPr>
          <a:xfrm>
            <a:off x="4935070" y="1825625"/>
            <a:ext cx="40027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>
            <a:spLocks noGrp="1"/>
          </p:cNvSpPr>
          <p:nvPr>
            <p:ph type="title"/>
          </p:nvPr>
        </p:nvSpPr>
        <p:spPr>
          <a:xfrm>
            <a:off x="286870" y="3502773"/>
            <a:ext cx="42537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>
            <a:spLocks noGrp="1"/>
          </p:cNvSpPr>
          <p:nvPr>
            <p:ph type="title"/>
          </p:nvPr>
        </p:nvSpPr>
        <p:spPr>
          <a:xfrm>
            <a:off x="286870" y="1427444"/>
            <a:ext cx="47019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/>
          <p:nvPr/>
        </p:nvSpPr>
        <p:spPr>
          <a:xfrm>
            <a:off x="135080" y="118579"/>
            <a:ext cx="3875809" cy="727219"/>
          </a:xfrm>
          <a:prstGeom prst="rect">
            <a:avLst/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866" y="245036"/>
            <a:ext cx="3518572" cy="46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olo el título">
  <p:cSld name="2_Solo el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>
            <a:spLocks noGrp="1"/>
          </p:cNvSpPr>
          <p:nvPr>
            <p:ph type="title"/>
          </p:nvPr>
        </p:nvSpPr>
        <p:spPr>
          <a:xfrm>
            <a:off x="7073153" y="3224868"/>
            <a:ext cx="405204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/>
          <p:nvPr/>
        </p:nvSpPr>
        <p:spPr>
          <a:xfrm>
            <a:off x="7751617" y="5594589"/>
            <a:ext cx="3875809" cy="72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5050" y="5689873"/>
            <a:ext cx="3518572" cy="46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 blanco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bg>
      <p:bgPr>
        <a:solidFill>
          <a:srgbClr val="D4E8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 blanco">
  <p:cSld name="2_En blanco">
    <p:bg>
      <p:bgPr>
        <a:solidFill>
          <a:srgbClr val="F7F2ED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solidFill>
          <a:srgbClr val="F7F2ED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bg>
      <p:bgPr>
        <a:solidFill>
          <a:srgbClr val="D4E8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bg>
      <p:bgPr>
        <a:solidFill>
          <a:srgbClr val="EDE8E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jpe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jpe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/>
          <p:nvPr/>
        </p:nvSpPr>
        <p:spPr>
          <a:xfrm>
            <a:off x="2164773" y="3836616"/>
            <a:ext cx="7862454" cy="706582"/>
          </a:xfrm>
          <a:prstGeom prst="roundRect">
            <a:avLst>
              <a:gd name="adj" fmla="val 10785"/>
            </a:avLst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2344882" y="4005241"/>
            <a:ext cx="7502100" cy="67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dirty="0" err="1"/>
              <a:t>Inteligencia</a:t>
            </a:r>
            <a:r>
              <a:rPr lang="en-US" sz="1700" b="1" dirty="0"/>
              <a:t> Artificial y ChatGPT-5: </a:t>
            </a:r>
            <a:r>
              <a:rPr lang="en-US" sz="1700" b="1" dirty="0" err="1"/>
              <a:t>Estrategias</a:t>
            </a:r>
            <a:r>
              <a:rPr lang="en-US" sz="1700" b="1" dirty="0"/>
              <a:t> del </a:t>
            </a:r>
            <a:r>
              <a:rPr lang="en-US" sz="1700" b="1" dirty="0" err="1"/>
              <a:t>futuro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1"/>
          <p:cNvSpPr/>
          <p:nvPr/>
        </p:nvSpPr>
        <p:spPr>
          <a:xfrm>
            <a:off x="596224" y="3871459"/>
            <a:ext cx="5360437" cy="685914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1"/>
          <p:cNvSpPr/>
          <p:nvPr/>
        </p:nvSpPr>
        <p:spPr>
          <a:xfrm>
            <a:off x="596224" y="4738532"/>
            <a:ext cx="5360437" cy="685914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1"/>
          <p:cNvSpPr/>
          <p:nvPr/>
        </p:nvSpPr>
        <p:spPr>
          <a:xfrm>
            <a:off x="449705" y="1214203"/>
            <a:ext cx="6670623" cy="5077409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I: </a:t>
            </a:r>
            <a:r>
              <a:rPr lang="en-US" b="1" dirty="0" err="1"/>
              <a:t>Fundamentos</a:t>
            </a:r>
            <a:r>
              <a:rPr lang="en-US" b="1" dirty="0"/>
              <a:t> y </a:t>
            </a:r>
            <a:r>
              <a:rPr lang="en-US" b="1" dirty="0" err="1"/>
              <a:t>Evolución</a:t>
            </a:r>
            <a:r>
              <a:rPr lang="en-US" b="1" dirty="0"/>
              <a:t> de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Modelos</a:t>
            </a:r>
            <a:r>
              <a:rPr lang="en-US" b="1" dirty="0"/>
              <a:t> de </a:t>
            </a:r>
            <a:r>
              <a:rPr lang="en-US" b="1" dirty="0" err="1"/>
              <a:t>Lenguaje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IA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Fundamentos</a:t>
            </a:r>
            <a:r>
              <a:rPr lang="en-US" dirty="0"/>
              <a:t> e </a:t>
            </a:r>
            <a:r>
              <a:rPr lang="en-US" dirty="0" err="1"/>
              <a:t>introducción</a:t>
            </a:r>
            <a:r>
              <a:rPr lang="en-US" dirty="0"/>
              <a:t> a Chat GPT y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LLMs.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Evolución</a:t>
            </a:r>
            <a:r>
              <a:rPr lang="en-US" dirty="0"/>
              <a:t> </a:t>
            </a:r>
            <a:r>
              <a:rPr lang="en-US" dirty="0" err="1"/>
              <a:t>histórica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LLMs.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sintáctico</a:t>
            </a:r>
            <a:r>
              <a:rPr lang="en-US" dirty="0"/>
              <a:t>, </a:t>
            </a:r>
            <a:r>
              <a:rPr lang="en-US" dirty="0" err="1"/>
              <a:t>semántico</a:t>
            </a:r>
            <a:r>
              <a:rPr lang="en-US" dirty="0"/>
              <a:t> y </a:t>
            </a:r>
            <a:r>
              <a:rPr lang="en-US" dirty="0" err="1"/>
              <a:t>pragmático</a:t>
            </a:r>
            <a:r>
              <a:rPr lang="en-US" dirty="0"/>
              <a:t> del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humano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II: </a:t>
            </a:r>
            <a:r>
              <a:rPr lang="en-US" b="1" dirty="0" err="1"/>
              <a:t>Dominando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Arte de </a:t>
            </a:r>
            <a:r>
              <a:rPr lang="en-US" b="1" dirty="0" err="1"/>
              <a:t>los</a:t>
            </a:r>
            <a:r>
              <a:rPr lang="en-US" b="1" dirty="0"/>
              <a:t> Prompts </a:t>
            </a:r>
            <a:r>
              <a:rPr lang="en-US" b="1" dirty="0" err="1"/>
              <a:t>en</a:t>
            </a:r>
            <a:r>
              <a:rPr lang="en-US" b="1" dirty="0"/>
              <a:t> ChatGPT-4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prompt engineering?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Lab de </a:t>
            </a:r>
            <a:r>
              <a:rPr lang="en-US" dirty="0" err="1"/>
              <a:t>ing</a:t>
            </a:r>
            <a:r>
              <a:rPr lang="en-US" dirty="0"/>
              <a:t> de prompts: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diseñar</a:t>
            </a:r>
            <a:r>
              <a:rPr lang="en-US" dirty="0"/>
              <a:t> prompts </a:t>
            </a:r>
            <a:r>
              <a:rPr lang="en-US" dirty="0" err="1"/>
              <a:t>efectivos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LLMs.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Ejemplos</a:t>
            </a:r>
            <a:r>
              <a:rPr lang="en-US" dirty="0"/>
              <a:t> de prompts </a:t>
            </a:r>
            <a:r>
              <a:rPr lang="en-US" dirty="0" err="1"/>
              <a:t>diseñados</a:t>
            </a:r>
            <a:r>
              <a:rPr lang="en-US" dirty="0"/>
              <a:t> para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III: DALL-E y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Aplicación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ChatGPT-4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Visión general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generativos</a:t>
            </a:r>
            <a:r>
              <a:rPr lang="en-US" dirty="0"/>
              <a:t> DE IMÁGENES </a:t>
            </a:r>
            <a:r>
              <a:rPr lang="en-US" dirty="0" err="1"/>
              <a:t>en</a:t>
            </a:r>
            <a:r>
              <a:rPr lang="en-US" dirty="0"/>
              <a:t> OpenAI.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Lab de prompts: Generación, </a:t>
            </a:r>
            <a:r>
              <a:rPr lang="en-US" dirty="0" err="1"/>
              <a:t>parámetros</a:t>
            </a:r>
            <a:r>
              <a:rPr lang="en-US" dirty="0"/>
              <a:t> y </a:t>
            </a:r>
            <a:r>
              <a:rPr lang="en-US" dirty="0" err="1"/>
              <a:t>limitaciones</a:t>
            </a:r>
            <a:r>
              <a:rPr lang="en-US" dirty="0"/>
              <a:t>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Generación de </a:t>
            </a:r>
            <a:r>
              <a:rPr lang="en-US" dirty="0" err="1"/>
              <a:t>imágenes</a:t>
            </a:r>
            <a:r>
              <a:rPr lang="en-US" dirty="0"/>
              <a:t> y </a:t>
            </a:r>
            <a:r>
              <a:rPr lang="en-US" dirty="0" err="1"/>
              <a:t>arte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 </a:t>
            </a:r>
            <a:r>
              <a:rPr lang="en-US" dirty="0" err="1"/>
              <a:t>ingeniería</a:t>
            </a:r>
            <a:r>
              <a:rPr lang="en-US" dirty="0"/>
              <a:t> de prompt y sus </a:t>
            </a:r>
            <a:r>
              <a:rPr lang="en-US" dirty="0" err="1"/>
              <a:t>consideraciones</a:t>
            </a:r>
            <a:r>
              <a:rPr lang="en-US" dirty="0"/>
              <a:t> </a:t>
            </a:r>
            <a:r>
              <a:rPr lang="en-US" dirty="0" err="1"/>
              <a:t>éticas</a:t>
            </a:r>
            <a:r>
              <a:rPr lang="en-US" dirty="0"/>
              <a:t>.</a:t>
            </a:r>
            <a:endParaRPr b="1" dirty="0"/>
          </a:p>
        </p:txBody>
      </p:sp>
      <p:sp>
        <p:nvSpPr>
          <p:cNvPr id="153" name="Google Shape;153;p41"/>
          <p:cNvSpPr txBox="1">
            <a:spLocks noGrp="1"/>
          </p:cNvSpPr>
          <p:nvPr>
            <p:ph type="title"/>
          </p:nvPr>
        </p:nvSpPr>
        <p:spPr>
          <a:xfrm>
            <a:off x="596225" y="442645"/>
            <a:ext cx="53604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Contenido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2"/>
          <p:cNvSpPr/>
          <p:nvPr/>
        </p:nvSpPr>
        <p:spPr>
          <a:xfrm>
            <a:off x="596224" y="3871459"/>
            <a:ext cx="5360400" cy="685800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2"/>
          <p:cNvSpPr/>
          <p:nvPr/>
        </p:nvSpPr>
        <p:spPr>
          <a:xfrm>
            <a:off x="596224" y="4738532"/>
            <a:ext cx="5360400" cy="685800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2"/>
          <p:cNvSpPr/>
          <p:nvPr/>
        </p:nvSpPr>
        <p:spPr>
          <a:xfrm>
            <a:off x="314793" y="1433668"/>
            <a:ext cx="7000407" cy="4857944"/>
          </a:xfrm>
          <a:prstGeom prst="roundRect">
            <a:avLst>
              <a:gd name="adj" fmla="val 16667"/>
            </a:avLst>
          </a:prstGeom>
          <a:solidFill>
            <a:srgbClr val="F7F2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IV: </a:t>
            </a:r>
            <a:r>
              <a:rPr lang="en-US" b="1" dirty="0" err="1"/>
              <a:t>Arquitectura</a:t>
            </a:r>
            <a:r>
              <a:rPr lang="en-US" b="1" dirty="0"/>
              <a:t> de </a:t>
            </a:r>
            <a:r>
              <a:rPr lang="en-US" b="1" dirty="0" err="1"/>
              <a:t>código</a:t>
            </a:r>
            <a:r>
              <a:rPr lang="en-US" b="1" dirty="0"/>
              <a:t> </a:t>
            </a:r>
            <a:r>
              <a:rPr lang="en-US" b="1" dirty="0" err="1"/>
              <a:t>basada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ingeniera</a:t>
            </a:r>
            <a:r>
              <a:rPr lang="en-US" b="1" dirty="0"/>
              <a:t> de PROMPT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Construyendo</a:t>
            </a:r>
            <a:r>
              <a:rPr lang="en-US" dirty="0"/>
              <a:t> </a:t>
            </a:r>
            <a:r>
              <a:rPr lang="en-US" dirty="0" err="1"/>
              <a:t>códigos</a:t>
            </a:r>
            <a:r>
              <a:rPr lang="en-US" dirty="0"/>
              <a:t> PYTHON sin </a:t>
            </a:r>
            <a:r>
              <a:rPr lang="en-US" dirty="0" err="1"/>
              <a:t>conocimiento</a:t>
            </a:r>
            <a:r>
              <a:rPr lang="en-US" dirty="0"/>
              <a:t> de </a:t>
            </a:r>
            <a:r>
              <a:rPr lang="en-US" dirty="0" err="1"/>
              <a:t>programación</a:t>
            </a:r>
            <a:r>
              <a:rPr lang="en-US" dirty="0"/>
              <a:t>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Conociendo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pluggins</a:t>
            </a:r>
            <a:r>
              <a:rPr lang="en-US" dirty="0"/>
              <a:t> de CHAT GPT 4-0 para </a:t>
            </a: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IA.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Optimizando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de redes 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artificiales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CHAT GPT 4.0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V: </a:t>
            </a:r>
            <a:r>
              <a:rPr lang="en-US" b="1" dirty="0" err="1"/>
              <a:t>Expansión</a:t>
            </a:r>
            <a:r>
              <a:rPr lang="en-US" b="1" dirty="0"/>
              <a:t> de </a:t>
            </a:r>
            <a:r>
              <a:rPr lang="en-US" b="1" dirty="0" err="1"/>
              <a:t>Capacidades</a:t>
            </a:r>
            <a:r>
              <a:rPr lang="en-US" b="1" dirty="0"/>
              <a:t>: Plugins </a:t>
            </a:r>
            <a:r>
              <a:rPr lang="en-US" b="1" dirty="0" err="1"/>
              <a:t>en</a:t>
            </a:r>
            <a:r>
              <a:rPr lang="en-US" b="1" dirty="0"/>
              <a:t> ChatGPT-4"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La </a:t>
            </a:r>
            <a:r>
              <a:rPr lang="en-US" dirty="0" err="1"/>
              <a:t>extensibilidad</a:t>
            </a:r>
            <a:r>
              <a:rPr lang="en-US" dirty="0"/>
              <a:t> y la </a:t>
            </a:r>
            <a:r>
              <a:rPr lang="en-US" dirty="0" err="1"/>
              <a:t>aplicación</a:t>
            </a:r>
            <a:r>
              <a:rPr lang="en-US" dirty="0"/>
              <a:t> </a:t>
            </a:r>
            <a:r>
              <a:rPr lang="en-US" dirty="0" err="1"/>
              <a:t>práctica</a:t>
            </a:r>
            <a:r>
              <a:rPr lang="en-US" dirty="0"/>
              <a:t> de ChatGPT-4.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Conociendo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pluggins</a:t>
            </a:r>
            <a:r>
              <a:rPr lang="en-US" dirty="0"/>
              <a:t> de CHAT GPT 4-0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Lab de </a:t>
            </a:r>
            <a:r>
              <a:rPr lang="en-US" dirty="0" err="1"/>
              <a:t>pluggins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VI: De la </a:t>
            </a:r>
            <a:r>
              <a:rPr lang="en-US" b="1" dirty="0" err="1"/>
              <a:t>Teoría</a:t>
            </a:r>
            <a:r>
              <a:rPr lang="en-US" b="1" dirty="0"/>
              <a:t> a la </a:t>
            </a:r>
            <a:r>
              <a:rPr lang="en-US" b="1" dirty="0" err="1"/>
              <a:t>Práctica</a:t>
            </a:r>
            <a:r>
              <a:rPr lang="en-US" b="1" dirty="0"/>
              <a:t>: </a:t>
            </a:r>
            <a:r>
              <a:rPr lang="en-US" b="1" dirty="0" err="1"/>
              <a:t>Desarrollando</a:t>
            </a:r>
            <a:r>
              <a:rPr lang="en-US" b="1" dirty="0"/>
              <a:t> Apps con ChatGPT-4"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Como </a:t>
            </a:r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propia</a:t>
            </a:r>
            <a:r>
              <a:rPr lang="en-US" dirty="0"/>
              <a:t> app </a:t>
            </a:r>
            <a:r>
              <a:rPr lang="en-US" dirty="0" err="1"/>
              <a:t>desde</a:t>
            </a:r>
            <a:r>
              <a:rPr lang="en-US" dirty="0"/>
              <a:t> cero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ing</a:t>
            </a:r>
            <a:r>
              <a:rPr lang="en-US" dirty="0"/>
              <a:t> de prompt.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Lab </a:t>
            </a:r>
            <a:r>
              <a:rPr lang="en-US" dirty="0" err="1"/>
              <a:t>práctico</a:t>
            </a:r>
            <a:r>
              <a:rPr lang="en-US" dirty="0"/>
              <a:t>: </a:t>
            </a:r>
            <a:r>
              <a:rPr lang="en-US" dirty="0" err="1"/>
              <a:t>proyecto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– </a:t>
            </a:r>
            <a:r>
              <a:rPr lang="en-US" dirty="0" err="1"/>
              <a:t>construye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app </a:t>
            </a:r>
            <a:r>
              <a:rPr lang="en-US" dirty="0" err="1"/>
              <a:t>usando</a:t>
            </a:r>
            <a:r>
              <a:rPr lang="en-US" dirty="0"/>
              <a:t> IA.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Módulo</a:t>
            </a:r>
            <a:r>
              <a:rPr lang="en-US" b="1" dirty="0"/>
              <a:t> VII: </a:t>
            </a:r>
            <a:r>
              <a:rPr lang="en-US" b="1" dirty="0" err="1"/>
              <a:t>Ética</a:t>
            </a:r>
            <a:r>
              <a:rPr lang="en-US" b="1" dirty="0"/>
              <a:t> y </a:t>
            </a:r>
            <a:r>
              <a:rPr lang="en-US" b="1" dirty="0" err="1"/>
              <a:t>Responsabilidad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 IA"</a:t>
            </a:r>
            <a:endParaRPr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Consideraciones</a:t>
            </a:r>
            <a:r>
              <a:rPr lang="en-US" dirty="0"/>
              <a:t> </a:t>
            </a:r>
            <a:r>
              <a:rPr lang="en-US" dirty="0" err="1"/>
              <a:t>éticas</a:t>
            </a:r>
            <a:r>
              <a:rPr lang="en-US" dirty="0"/>
              <a:t> y la </a:t>
            </a:r>
            <a:r>
              <a:rPr lang="en-US" dirty="0" err="1"/>
              <a:t>responsabilidad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IA.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éticos</a:t>
            </a:r>
            <a:r>
              <a:rPr lang="en-US" dirty="0"/>
              <a:t> y </a:t>
            </a:r>
            <a:r>
              <a:rPr lang="en-US" dirty="0" err="1"/>
              <a:t>regulaciones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61" name="Google Shape;161;p42"/>
          <p:cNvSpPr txBox="1">
            <a:spLocks noGrp="1"/>
          </p:cNvSpPr>
          <p:nvPr>
            <p:ph type="title"/>
          </p:nvPr>
        </p:nvSpPr>
        <p:spPr>
          <a:xfrm>
            <a:off x="596225" y="442645"/>
            <a:ext cx="53604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Contenido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C91DA187-605B-80E5-5338-4108708E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3">
            <a:extLst>
              <a:ext uri="{FF2B5EF4-FFF2-40B4-BE49-F238E27FC236}">
                <a16:creationId xmlns:a16="http://schemas.microsoft.com/office/drawing/2014/main" id="{DB20A298-C3C5-0F5C-CD9F-852CF3141439}"/>
              </a:ext>
            </a:extLst>
          </p:cNvPr>
          <p:cNvSpPr txBox="1"/>
          <p:nvPr/>
        </p:nvSpPr>
        <p:spPr>
          <a:xfrm>
            <a:off x="675575" y="4771827"/>
            <a:ext cx="47694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dirty="0" err="1">
                <a:solidFill>
                  <a:schemeClr val="dk1"/>
                </a:solidFill>
              </a:rPr>
              <a:t>Aplicaciones</a:t>
            </a:r>
            <a:r>
              <a:rPr lang="en-US" sz="4000" b="1" dirty="0">
                <a:solidFill>
                  <a:schemeClr val="dk1"/>
                </a:solidFill>
              </a:rPr>
              <a:t> WEB </a:t>
            </a:r>
            <a:endParaRPr lang="en-US"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00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7C3A0C3-9074-982D-63AE-E8A42012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>
            <a:extLst>
              <a:ext uri="{FF2B5EF4-FFF2-40B4-BE49-F238E27FC236}">
                <a16:creationId xmlns:a16="http://schemas.microsoft.com/office/drawing/2014/main" id="{73374411-FFFC-75DF-88E6-DF22812746A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878095" y="1712069"/>
            <a:ext cx="5177384" cy="4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dirty="0">
                <a:solidFill>
                  <a:srgbClr val="1C1711"/>
                </a:solidFill>
              </a:rPr>
              <a:t>¿</a:t>
            </a:r>
            <a:r>
              <a:rPr lang="en-US" err="1">
                <a:solidFill>
                  <a:srgbClr val="1C1711"/>
                </a:solidFill>
              </a:rPr>
              <a:t>Qué</a:t>
            </a:r>
            <a:r>
              <a:rPr lang="en-US" dirty="0">
                <a:solidFill>
                  <a:srgbClr val="1C1711"/>
                </a:solidFill>
              </a:rPr>
              <a:t> es </a:t>
            </a:r>
            <a:r>
              <a:rPr lang="en-US" err="1">
                <a:solidFill>
                  <a:srgbClr val="1C1711"/>
                </a:solidFill>
              </a:rPr>
              <a:t>una</a:t>
            </a:r>
            <a:r>
              <a:rPr lang="en-US" dirty="0">
                <a:solidFill>
                  <a:srgbClr val="1C1711"/>
                </a:solidFill>
              </a:rPr>
              <a:t> </a:t>
            </a:r>
            <a:r>
              <a:rPr lang="en-US" err="1">
                <a:solidFill>
                  <a:srgbClr val="1C1711"/>
                </a:solidFill>
              </a:rPr>
              <a:t>Aplicación</a:t>
            </a:r>
            <a:r>
              <a:rPr lang="en-US" dirty="0">
                <a:solidFill>
                  <a:srgbClr val="1C1711"/>
                </a:solidFill>
              </a:rPr>
              <a:t> Web? </a:t>
            </a:r>
            <a:endParaRPr lang="es-ES" dirty="0"/>
          </a:p>
        </p:txBody>
      </p:sp>
      <p:sp>
        <p:nvSpPr>
          <p:cNvPr id="176" name="Google Shape;176;p44">
            <a:extLst>
              <a:ext uri="{FF2B5EF4-FFF2-40B4-BE49-F238E27FC236}">
                <a16:creationId xmlns:a16="http://schemas.microsoft.com/office/drawing/2014/main" id="{AC61DFB3-E0C5-8997-9CAD-948BD2A7F123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5880999" y="2379123"/>
            <a:ext cx="5891626" cy="423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buNone/>
            </a:pPr>
            <a:br>
              <a:rPr lang="en-US" sz="1300" b="1" dirty="0">
                <a:solidFill>
                  <a:srgbClr val="000000"/>
                </a:solidFill>
              </a:rPr>
            </a:br>
            <a:r>
              <a:rPr lang="en-US" sz="1800" b="1" dirty="0">
                <a:solidFill>
                  <a:srgbClr val="000000"/>
                </a:solidFill>
              </a:rPr>
              <a:t>Una </a:t>
            </a:r>
            <a:r>
              <a:rPr lang="en-US" sz="1800" b="1" err="1">
                <a:solidFill>
                  <a:srgbClr val="000000"/>
                </a:solidFill>
              </a:rPr>
              <a:t>aplicación</a:t>
            </a:r>
            <a:r>
              <a:rPr lang="en-US" sz="1800" b="1" dirty="0">
                <a:solidFill>
                  <a:srgbClr val="000000"/>
                </a:solidFill>
              </a:rPr>
              <a:t> web es un software </a:t>
            </a:r>
            <a:r>
              <a:rPr lang="en-US" sz="1800" b="1" err="1">
                <a:solidFill>
                  <a:srgbClr val="000000"/>
                </a:solidFill>
              </a:rPr>
              <a:t>accesible</a:t>
            </a:r>
            <a:r>
              <a:rPr lang="en-US" sz="1800" b="1" dirty="0">
                <a:solidFill>
                  <a:srgbClr val="000000"/>
                </a:solidFill>
              </a:rPr>
              <a:t> a </a:t>
            </a:r>
            <a:r>
              <a:rPr lang="en-US" sz="1800" b="1" err="1">
                <a:solidFill>
                  <a:srgbClr val="000000"/>
                </a:solidFill>
              </a:rPr>
              <a:t>través</a:t>
            </a:r>
            <a:r>
              <a:rPr lang="en-US" sz="1800" b="1" dirty="0">
                <a:solidFill>
                  <a:srgbClr val="000000"/>
                </a:solidFill>
              </a:rPr>
              <a:t> de un </a:t>
            </a:r>
            <a:r>
              <a:rPr lang="en-US" sz="1800" b="1" err="1">
                <a:solidFill>
                  <a:srgbClr val="000000"/>
                </a:solidFill>
              </a:rPr>
              <a:t>navegador</a:t>
            </a:r>
            <a:r>
              <a:rPr lang="en-US" sz="1800" b="1" dirty="0">
                <a:solidFill>
                  <a:srgbClr val="000000"/>
                </a:solidFill>
              </a:rPr>
              <a:t>, que </a:t>
            </a:r>
            <a:r>
              <a:rPr lang="en-US" sz="1800" b="1" err="1">
                <a:solidFill>
                  <a:srgbClr val="000000"/>
                </a:solidFill>
              </a:rPr>
              <a:t>permite</a:t>
            </a:r>
            <a:r>
              <a:rPr lang="en-US" sz="1800" b="1" dirty="0">
                <a:solidFill>
                  <a:srgbClr val="000000"/>
                </a:solidFill>
              </a:rPr>
              <a:t> a </a:t>
            </a:r>
            <a:r>
              <a:rPr lang="en-US" sz="1800" b="1" err="1">
                <a:solidFill>
                  <a:srgbClr val="000000"/>
                </a:solidFill>
              </a:rPr>
              <a:t>los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usuarios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interactuar</a:t>
            </a:r>
            <a:r>
              <a:rPr lang="en-US" sz="1800" b="1" dirty="0">
                <a:solidFill>
                  <a:srgbClr val="000000"/>
                </a:solidFill>
              </a:rPr>
              <a:t> con </a:t>
            </a:r>
            <a:r>
              <a:rPr lang="en-US" sz="1800" b="1" err="1">
                <a:solidFill>
                  <a:srgbClr val="000000"/>
                </a:solidFill>
              </a:rPr>
              <a:t>funcionalidades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dinámicas</a:t>
            </a:r>
            <a:r>
              <a:rPr lang="en-US" sz="1800" b="1" dirty="0">
                <a:solidFill>
                  <a:srgbClr val="000000"/>
                </a:solidFill>
              </a:rPr>
              <a:t> (</a:t>
            </a:r>
            <a:r>
              <a:rPr lang="en-US" sz="1800" b="1" err="1">
                <a:solidFill>
                  <a:srgbClr val="000000"/>
                </a:solidFill>
              </a:rPr>
              <a:t>formularios</a:t>
            </a:r>
            <a:r>
              <a:rPr lang="en-US" sz="1800" b="1" dirty="0">
                <a:solidFill>
                  <a:srgbClr val="000000"/>
                </a:solidFill>
              </a:rPr>
              <a:t>, bases de </a:t>
            </a:r>
            <a:r>
              <a:rPr lang="en-US" sz="1800" b="1" err="1">
                <a:solidFill>
                  <a:srgbClr val="000000"/>
                </a:solidFill>
              </a:rPr>
              <a:t>datos</a:t>
            </a:r>
            <a:r>
              <a:rPr lang="en-US" sz="1800" b="1" dirty="0">
                <a:solidFill>
                  <a:srgbClr val="000000"/>
                </a:solidFill>
              </a:rPr>
              <a:t>, </a:t>
            </a:r>
            <a:r>
              <a:rPr lang="en-US" sz="1800" b="1" err="1">
                <a:solidFill>
                  <a:srgbClr val="000000"/>
                </a:solidFill>
              </a:rPr>
              <a:t>contenido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personalizado</a:t>
            </a:r>
            <a:r>
              <a:rPr lang="en-US" sz="1800" b="1" dirty="0">
                <a:solidFill>
                  <a:srgbClr val="000000"/>
                </a:solidFill>
              </a:rPr>
              <a:t>) sin </a:t>
            </a:r>
            <a:r>
              <a:rPr lang="en-US" sz="1800" b="1" err="1">
                <a:solidFill>
                  <a:srgbClr val="000000"/>
                </a:solidFill>
              </a:rPr>
              <a:t>necesidad</a:t>
            </a:r>
            <a:r>
              <a:rPr lang="en-US" sz="1800" b="1" dirty="0">
                <a:solidFill>
                  <a:srgbClr val="000000"/>
                </a:solidFill>
              </a:rPr>
              <a:t> de </a:t>
            </a:r>
            <a:r>
              <a:rPr lang="en-US" sz="1800" b="1" err="1">
                <a:solidFill>
                  <a:srgbClr val="000000"/>
                </a:solidFill>
              </a:rPr>
              <a:t>instalar</a:t>
            </a:r>
            <a:r>
              <a:rPr lang="en-US" sz="1800" b="1" dirty="0">
                <a:solidFill>
                  <a:srgbClr val="000000"/>
                </a:solidFill>
              </a:rPr>
              <a:t> nada </a:t>
            </a:r>
            <a:r>
              <a:rPr lang="en-US" sz="1800" b="1" err="1">
                <a:solidFill>
                  <a:srgbClr val="000000"/>
                </a:solidFill>
              </a:rPr>
              <a:t>en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su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b="1" err="1">
                <a:solidFill>
                  <a:srgbClr val="000000"/>
                </a:solidFill>
              </a:rPr>
              <a:t>equipo</a:t>
            </a:r>
            <a:r>
              <a:rPr lang="en-US" sz="1800" b="1" dirty="0">
                <a:solidFill>
                  <a:srgbClr val="000000"/>
                </a:solidFill>
              </a:rPr>
              <a:t>.</a:t>
            </a:r>
            <a:endParaRPr lang="en-US" sz="1800"/>
          </a:p>
          <a:p>
            <a:pPr>
              <a:buNone/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sz="1800" b="1" err="1">
                <a:solidFill>
                  <a:srgbClr val="000000"/>
                </a:solidFill>
              </a:rPr>
              <a:t>Características</a:t>
            </a:r>
            <a:r>
              <a:rPr lang="en-US" sz="1800" b="1" dirty="0">
                <a:solidFill>
                  <a:srgbClr val="000000"/>
                </a:solidFill>
              </a:rPr>
              <a:t>:</a:t>
            </a:r>
            <a:endParaRPr lang="en-US" sz="1800" b="1"/>
          </a:p>
          <a:p>
            <a:pPr marL="285750" indent="-285750"/>
            <a:r>
              <a:rPr lang="en-US" sz="1800" err="1">
                <a:solidFill>
                  <a:srgbClr val="000000"/>
                </a:solidFill>
              </a:rPr>
              <a:t>Accesible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desde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cualquier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dispositivo</a:t>
            </a:r>
            <a:r>
              <a:rPr lang="en-US" sz="1800" dirty="0">
                <a:solidFill>
                  <a:srgbClr val="000000"/>
                </a:solidFill>
              </a:rPr>
              <a:t> con internet</a:t>
            </a:r>
            <a:endParaRPr lang="en-US" sz="1800"/>
          </a:p>
          <a:p>
            <a:pPr marL="285750" indent="-285750"/>
            <a:r>
              <a:rPr lang="en-US" sz="1800" err="1">
                <a:solidFill>
                  <a:srgbClr val="000000"/>
                </a:solidFill>
              </a:rPr>
              <a:t>Ejecutada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principalmente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en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servidores</a:t>
            </a:r>
            <a:r>
              <a:rPr lang="en-US" sz="1800" dirty="0">
                <a:solidFill>
                  <a:srgbClr val="000000"/>
                </a:solidFill>
              </a:rPr>
              <a:t> web</a:t>
            </a:r>
            <a:endParaRPr lang="en-US" sz="1800"/>
          </a:p>
          <a:p>
            <a:pPr marL="285750" indent="-285750"/>
            <a:r>
              <a:rPr lang="en-US" sz="1800" err="1">
                <a:solidFill>
                  <a:srgbClr val="000000"/>
                </a:solidFill>
              </a:rPr>
              <a:t>Escalable</a:t>
            </a:r>
            <a:r>
              <a:rPr lang="en-US" sz="1800" dirty="0">
                <a:solidFill>
                  <a:srgbClr val="000000"/>
                </a:solidFill>
              </a:rPr>
              <a:t> y </a:t>
            </a:r>
            <a:r>
              <a:rPr lang="en-US" sz="1800" err="1">
                <a:solidFill>
                  <a:srgbClr val="000000"/>
                </a:solidFill>
              </a:rPr>
              <a:t>multiplataforma</a:t>
            </a:r>
            <a:endParaRPr lang="en-US" sz="1800" err="1"/>
          </a:p>
        </p:txBody>
      </p:sp>
      <p:pic>
        <p:nvPicPr>
          <p:cNvPr id="177" name="Google Shape;177;p44">
            <a:extLst>
              <a:ext uri="{FF2B5EF4-FFF2-40B4-BE49-F238E27FC236}">
                <a16:creationId xmlns:a16="http://schemas.microsoft.com/office/drawing/2014/main" id="{A2E66791-E8CC-265E-E4D8-8C8C333934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AD54AC2F-64D4-B2C5-77A1-5E0E51416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" y="601579"/>
            <a:ext cx="5668211" cy="566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0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/>
          <p:cNvSpPr txBox="1">
            <a:spLocks noGrp="1"/>
          </p:cNvSpPr>
          <p:nvPr>
            <p:ph type="body" idx="3"/>
          </p:nvPr>
        </p:nvSpPr>
        <p:spPr>
          <a:xfrm>
            <a:off x="6025148" y="1217437"/>
            <a:ext cx="5177384" cy="4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dirty="0">
                <a:solidFill>
                  <a:srgbClr val="1C1711"/>
                </a:solidFill>
              </a:rPr>
              <a:t>¿</a:t>
            </a:r>
            <a:r>
              <a:rPr lang="en-US" err="1">
                <a:solidFill>
                  <a:srgbClr val="1C1711"/>
                </a:solidFill>
              </a:rPr>
              <a:t>Qué</a:t>
            </a:r>
            <a:r>
              <a:rPr lang="en-US" dirty="0">
                <a:solidFill>
                  <a:srgbClr val="1C1711"/>
                </a:solidFill>
              </a:rPr>
              <a:t> es </a:t>
            </a:r>
            <a:r>
              <a:rPr lang="en-US" err="1">
                <a:solidFill>
                  <a:srgbClr val="1C1711"/>
                </a:solidFill>
              </a:rPr>
              <a:t>una</a:t>
            </a:r>
            <a:r>
              <a:rPr lang="en-US" dirty="0">
                <a:solidFill>
                  <a:srgbClr val="1C1711"/>
                </a:solidFill>
              </a:rPr>
              <a:t> </a:t>
            </a:r>
            <a:r>
              <a:rPr lang="en-US" err="1">
                <a:solidFill>
                  <a:srgbClr val="1C1711"/>
                </a:solidFill>
              </a:rPr>
              <a:t>Aplicación</a:t>
            </a:r>
            <a:r>
              <a:rPr lang="en-US" dirty="0">
                <a:solidFill>
                  <a:srgbClr val="1C1711"/>
                </a:solidFill>
              </a:rPr>
              <a:t> Web? </a:t>
            </a:r>
            <a:endParaRPr lang="es-ES" dirty="0"/>
          </a:p>
        </p:txBody>
      </p:sp>
      <p:sp>
        <p:nvSpPr>
          <p:cNvPr id="176" name="Google Shape;176;p44"/>
          <p:cNvSpPr txBox="1">
            <a:spLocks noGrp="1"/>
          </p:cNvSpPr>
          <p:nvPr>
            <p:ph type="body" idx="4"/>
          </p:nvPr>
        </p:nvSpPr>
        <p:spPr>
          <a:xfrm>
            <a:off x="5880999" y="2579649"/>
            <a:ext cx="5891626" cy="403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buNone/>
            </a:pPr>
            <a:r>
              <a:rPr lang="en-US" sz="1800" b="1" dirty="0" err="1">
                <a:solidFill>
                  <a:srgbClr val="000000"/>
                </a:solidFill>
              </a:rPr>
              <a:t>Ejemplos</a:t>
            </a:r>
            <a:r>
              <a:rPr lang="en-US" sz="1800" b="1" dirty="0">
                <a:solidFill>
                  <a:srgbClr val="000000"/>
                </a:solidFill>
              </a:rPr>
              <a:t>:</a:t>
            </a:r>
            <a:endParaRPr lang="es-ES" sz="1800" b="1" dirty="0"/>
          </a:p>
          <a:p>
            <a:pPr marL="285750" indent="-285750">
              <a:buClr>
                <a:srgbClr val="1C1711"/>
              </a:buClr>
            </a:pPr>
            <a:r>
              <a:rPr lang="en-US" sz="1800" dirty="0">
                <a:solidFill>
                  <a:srgbClr val="000000"/>
                </a:solidFill>
              </a:rPr>
              <a:t>Gmail (</a:t>
            </a:r>
            <a:r>
              <a:rPr lang="en-US" sz="1800" err="1">
                <a:solidFill>
                  <a:srgbClr val="000000"/>
                </a:solidFill>
              </a:rPr>
              <a:t>correo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err="1">
                <a:solidFill>
                  <a:srgbClr val="000000"/>
                </a:solidFill>
              </a:rPr>
              <a:t>electrónico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endParaRPr sz="1800"/>
          </a:p>
          <a:p>
            <a:pPr marL="285750" indent="-285750">
              <a:buClr>
                <a:srgbClr val="1C1711"/>
              </a:buClr>
            </a:pPr>
            <a:r>
              <a:rPr lang="en-US" sz="1800" dirty="0">
                <a:solidFill>
                  <a:srgbClr val="000000"/>
                </a:solidFill>
              </a:rPr>
              <a:t>Trello (</a:t>
            </a:r>
            <a:r>
              <a:rPr lang="en-US" sz="1800" dirty="0" err="1">
                <a:solidFill>
                  <a:srgbClr val="000000"/>
                </a:solidFill>
              </a:rPr>
              <a:t>gestión</a:t>
            </a:r>
            <a:r>
              <a:rPr lang="en-US" sz="1800" dirty="0">
                <a:solidFill>
                  <a:srgbClr val="000000"/>
                </a:solidFill>
              </a:rPr>
              <a:t> de </a:t>
            </a:r>
            <a:r>
              <a:rPr lang="en-US" sz="1800" dirty="0" err="1">
                <a:solidFill>
                  <a:srgbClr val="000000"/>
                </a:solidFill>
              </a:rPr>
              <a:t>proyectos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endParaRPr lang="en-US" sz="1800"/>
          </a:p>
          <a:p>
            <a:pPr marL="285750" indent="-285750">
              <a:buClr>
                <a:srgbClr val="1C1711"/>
              </a:buClr>
            </a:pPr>
            <a:r>
              <a:rPr lang="en-US" sz="1800" dirty="0">
                <a:solidFill>
                  <a:srgbClr val="000000"/>
                </a:solidFill>
              </a:rPr>
              <a:t>ChatGPT (</a:t>
            </a:r>
            <a:r>
              <a:rPr lang="en-US" sz="1800" dirty="0" err="1">
                <a:solidFill>
                  <a:srgbClr val="000000"/>
                </a:solidFill>
              </a:rPr>
              <a:t>interfaz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conversacional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en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navegador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endParaRPr lang="en-US" sz="1800"/>
          </a:p>
          <a:p>
            <a:pPr marL="285750" indent="-285750">
              <a:buClr>
                <a:srgbClr val="1C1711"/>
              </a:buClr>
            </a:pPr>
            <a:r>
              <a:rPr lang="en-US" sz="1800" dirty="0">
                <a:solidFill>
                  <a:srgbClr val="000000"/>
                </a:solidFill>
              </a:rPr>
              <a:t>TikTok Web (social media)</a:t>
            </a:r>
            <a:endParaRPr sz="1800"/>
          </a:p>
          <a:p>
            <a:pPr marL="285750" indent="-285750"/>
            <a:r>
              <a:rPr lang="en-US" sz="1800" dirty="0">
                <a:solidFill>
                  <a:srgbClr val="000000"/>
                </a:solidFill>
              </a:rPr>
              <a:t>Bancos </a:t>
            </a:r>
            <a:r>
              <a:rPr lang="en-US" sz="1800" dirty="0" err="1">
                <a:solidFill>
                  <a:srgbClr val="000000"/>
                </a:solidFill>
              </a:rPr>
              <a:t>en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línea</a:t>
            </a:r>
            <a:r>
              <a:rPr lang="en-US" sz="1800" dirty="0">
                <a:solidFill>
                  <a:srgbClr val="000000"/>
                </a:solidFill>
              </a:rPr>
              <a:t> (</a:t>
            </a:r>
            <a:r>
              <a:rPr lang="en-US" sz="1800" dirty="0" err="1">
                <a:solidFill>
                  <a:srgbClr val="000000"/>
                </a:solidFill>
              </a:rPr>
              <a:t>transacciones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dirty="0" err="1">
                <a:solidFill>
                  <a:srgbClr val="000000"/>
                </a:solidFill>
              </a:rPr>
              <a:t>pagos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endParaRPr lang="en-US" sz="1400" dirty="0"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buNone/>
            </a:pPr>
            <a:endParaRPr lang="en-US" sz="1300" dirty="0">
              <a:solidFill>
                <a:srgbClr val="000000"/>
              </a:solidFill>
            </a:endParaRPr>
          </a:p>
        </p:txBody>
      </p:sp>
      <p:pic>
        <p:nvPicPr>
          <p:cNvPr id="177" name="Google Shape;17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D8F5F5A8-012F-93CB-8CB6-AFB1DDAEE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" y="601579"/>
            <a:ext cx="5668211" cy="5668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4951674" y="158244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¿</a:t>
            </a:r>
            <a:r>
              <a:rPr lang="en-US" sz="2400" dirty="0" err="1"/>
              <a:t>beneficios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Aplicación</a:t>
            </a:r>
            <a:r>
              <a:rPr lang="en-US" sz="2400" dirty="0"/>
              <a:t> Web? 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027C4A-FF87-33BB-06C3-CE38ED68414A}"/>
              </a:ext>
            </a:extLst>
          </p:cNvPr>
          <p:cNvSpPr txBox="1"/>
          <p:nvPr/>
        </p:nvSpPr>
        <p:spPr>
          <a:xfrm>
            <a:off x="6432755" y="2081981"/>
            <a:ext cx="4980037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/>
              <a:t>Accesibilidad</a:t>
            </a:r>
            <a:endParaRPr lang="en-US" sz="2400" b="1"/>
          </a:p>
          <a:p>
            <a:endParaRPr lang="en-US" sz="2000" b="1" dirty="0"/>
          </a:p>
          <a:p>
            <a:pPr algn="just"/>
            <a:r>
              <a:rPr lang="en-US" sz="2000" dirty="0"/>
              <a:t>Las </a:t>
            </a:r>
            <a:r>
              <a:rPr lang="en-US" sz="2000" err="1"/>
              <a:t>aplicaciones</a:t>
            </a:r>
            <a:r>
              <a:rPr lang="en-US" sz="2000" dirty="0"/>
              <a:t> web son </a:t>
            </a:r>
            <a:r>
              <a:rPr lang="en-US" sz="2000" err="1"/>
              <a:t>accesibles</a:t>
            </a:r>
            <a:r>
              <a:rPr lang="en-US" sz="2000" dirty="0"/>
              <a:t> </a:t>
            </a:r>
            <a:r>
              <a:rPr lang="en-US" sz="2000" err="1"/>
              <a:t>desde</a:t>
            </a:r>
            <a:r>
              <a:rPr lang="en-US" sz="2000" dirty="0"/>
              <a:t> </a:t>
            </a:r>
            <a:r>
              <a:rPr lang="en-US" sz="2000" err="1"/>
              <a:t>todos</a:t>
            </a:r>
            <a:r>
              <a:rPr lang="en-US" sz="2000" dirty="0"/>
              <a:t> </a:t>
            </a:r>
            <a:r>
              <a:rPr lang="en-US" sz="2000" err="1"/>
              <a:t>los</a:t>
            </a:r>
            <a:r>
              <a:rPr lang="en-US" sz="2000" dirty="0"/>
              <a:t> </a:t>
            </a:r>
            <a:r>
              <a:rPr lang="en-US" sz="2000" err="1"/>
              <a:t>navegadores</a:t>
            </a:r>
            <a:r>
              <a:rPr lang="en-US" sz="2000" dirty="0"/>
              <a:t> web y </a:t>
            </a:r>
            <a:r>
              <a:rPr lang="en-US" sz="2000" err="1"/>
              <a:t>desde</a:t>
            </a:r>
            <a:r>
              <a:rPr lang="en-US" sz="2000" dirty="0"/>
              <a:t> </a:t>
            </a:r>
            <a:r>
              <a:rPr lang="en-US" sz="2000" err="1"/>
              <a:t>diferentes</a:t>
            </a:r>
            <a:r>
              <a:rPr lang="en-US" sz="2000" dirty="0"/>
              <a:t> </a:t>
            </a:r>
            <a:r>
              <a:rPr lang="en-US" sz="2000" err="1"/>
              <a:t>dispositivos</a:t>
            </a:r>
            <a:r>
              <a:rPr lang="en-US" sz="2000" dirty="0"/>
              <a:t> </a:t>
            </a:r>
            <a:r>
              <a:rPr lang="en-US" sz="2000" err="1"/>
              <a:t>personales</a:t>
            </a:r>
            <a:r>
              <a:rPr lang="en-US" sz="2000" dirty="0"/>
              <a:t> y </a:t>
            </a:r>
            <a:r>
              <a:rPr lang="en-US" sz="2000" err="1"/>
              <a:t>empresariales</a:t>
            </a:r>
            <a:r>
              <a:rPr lang="en-US" sz="2000" dirty="0"/>
              <a:t>. Equipos de </a:t>
            </a:r>
            <a:r>
              <a:rPr lang="en-US" sz="2000" err="1"/>
              <a:t>diferentes</a:t>
            </a:r>
            <a:r>
              <a:rPr lang="en-US" sz="2000" dirty="0"/>
              <a:t> </a:t>
            </a:r>
            <a:r>
              <a:rPr lang="en-US" sz="2000" err="1"/>
              <a:t>ubicaciones</a:t>
            </a:r>
            <a:r>
              <a:rPr lang="en-US" sz="2000" dirty="0"/>
              <a:t> </a:t>
            </a:r>
            <a:r>
              <a:rPr lang="en-US" sz="2000" err="1"/>
              <a:t>pueden</a:t>
            </a:r>
            <a:r>
              <a:rPr lang="en-US" sz="2000" dirty="0"/>
              <a:t> acceder a </a:t>
            </a:r>
            <a:r>
              <a:rPr lang="en-US" sz="2000" err="1"/>
              <a:t>documentos</a:t>
            </a:r>
            <a:r>
              <a:rPr lang="en-US" sz="2000" dirty="0"/>
              <a:t> </a:t>
            </a:r>
            <a:r>
              <a:rPr lang="en-US" sz="2000" err="1"/>
              <a:t>compartidos</a:t>
            </a:r>
            <a:r>
              <a:rPr lang="en-US" sz="2000" dirty="0"/>
              <a:t>, </a:t>
            </a:r>
            <a:r>
              <a:rPr lang="en-US" sz="2000" err="1"/>
              <a:t>sistemas</a:t>
            </a:r>
            <a:r>
              <a:rPr lang="en-US" sz="2000" dirty="0"/>
              <a:t> de </a:t>
            </a:r>
            <a:r>
              <a:rPr lang="en-US" sz="2000" err="1"/>
              <a:t>administración</a:t>
            </a:r>
            <a:r>
              <a:rPr lang="en-US" sz="2000" dirty="0"/>
              <a:t> de </a:t>
            </a:r>
            <a:r>
              <a:rPr lang="en-US" sz="2000" err="1"/>
              <a:t>contenidos</a:t>
            </a:r>
            <a:r>
              <a:rPr lang="en-US" sz="2000" dirty="0"/>
              <a:t> y </a:t>
            </a:r>
            <a:r>
              <a:rPr lang="en-US" sz="2000" err="1"/>
              <a:t>otros</a:t>
            </a:r>
            <a:r>
              <a:rPr lang="en-US" sz="2000" dirty="0"/>
              <a:t> </a:t>
            </a:r>
            <a:r>
              <a:rPr lang="en-US" sz="2000" err="1"/>
              <a:t>servicios</a:t>
            </a:r>
            <a:r>
              <a:rPr lang="en-US" sz="2000" dirty="0"/>
              <a:t> </a:t>
            </a:r>
            <a:r>
              <a:rPr lang="en-US" sz="2000" err="1"/>
              <a:t>empresariales</a:t>
            </a:r>
            <a:r>
              <a:rPr lang="en-US" sz="2000" dirty="0"/>
              <a:t> a </a:t>
            </a:r>
            <a:r>
              <a:rPr lang="en-US" sz="2000" err="1"/>
              <a:t>través</a:t>
            </a:r>
            <a:r>
              <a:rPr lang="en-US" sz="2000" dirty="0"/>
              <a:t> de </a:t>
            </a:r>
            <a:r>
              <a:rPr lang="en-US" sz="2000" err="1"/>
              <a:t>aplicaciones</a:t>
            </a:r>
            <a:r>
              <a:rPr lang="en-US" sz="2000" dirty="0"/>
              <a:t> web </a:t>
            </a:r>
            <a:r>
              <a:rPr lang="en-US" sz="2000" err="1"/>
              <a:t>basadas</a:t>
            </a:r>
            <a:r>
              <a:rPr lang="en-US" sz="2000" dirty="0"/>
              <a:t> </a:t>
            </a:r>
            <a:r>
              <a:rPr lang="en-US" sz="2000" err="1"/>
              <a:t>en</a:t>
            </a:r>
            <a:r>
              <a:rPr lang="en-US" sz="2000" dirty="0"/>
              <a:t> </a:t>
            </a:r>
            <a:r>
              <a:rPr lang="en-US" sz="2000" err="1"/>
              <a:t>suscripciones</a:t>
            </a:r>
            <a:r>
              <a:rPr lang="en-US" sz="2000" dirty="0"/>
              <a:t>.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D10B172-9BAD-3E58-A633-8B48545E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40A4BEC7-657D-D361-4855-A9C1319F1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674" y="158244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¿</a:t>
            </a:r>
            <a:r>
              <a:rPr lang="en-US" sz="2400" dirty="0" err="1"/>
              <a:t>beneficios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Aplicación</a:t>
            </a:r>
            <a:r>
              <a:rPr lang="en-US" sz="2400" dirty="0"/>
              <a:t> Web? 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CFA5760-DDF7-45EC-FC78-FBD44A87B494}"/>
              </a:ext>
            </a:extLst>
          </p:cNvPr>
          <p:cNvSpPr txBox="1"/>
          <p:nvPr/>
        </p:nvSpPr>
        <p:spPr>
          <a:xfrm>
            <a:off x="6199239" y="1455175"/>
            <a:ext cx="4980037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Desarrollo </a:t>
            </a:r>
            <a:r>
              <a:rPr lang="en-US" sz="2400" b="1" err="1"/>
              <a:t>eficiente</a:t>
            </a:r>
            <a:endParaRPr lang="es-ES" sz="2400" err="1"/>
          </a:p>
          <a:p>
            <a:endParaRPr lang="en-US" sz="2400" b="1" dirty="0"/>
          </a:p>
          <a:p>
            <a:endParaRPr lang="en-US" sz="2000" b="1" dirty="0"/>
          </a:p>
          <a:p>
            <a:pPr algn="just"/>
            <a:r>
              <a:rPr lang="en-US" sz="2000" dirty="0"/>
              <a:t>Tal y </a:t>
            </a:r>
            <a:r>
              <a:rPr lang="en-US" sz="2000" dirty="0" err="1"/>
              <a:t>como</a:t>
            </a:r>
            <a:r>
              <a:rPr lang="en-US" sz="2000" dirty="0"/>
              <a:t> se </a:t>
            </a:r>
            <a:r>
              <a:rPr lang="en-US" sz="2000" dirty="0" err="1"/>
              <a:t>detalló</a:t>
            </a:r>
            <a:r>
              <a:rPr lang="en-US" sz="2000" dirty="0"/>
              <a:t>,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proceso</a:t>
            </a:r>
            <a:r>
              <a:rPr lang="en-US" sz="2000" dirty="0"/>
              <a:t> de </a:t>
            </a:r>
            <a:r>
              <a:rPr lang="en-US" sz="2000" dirty="0" err="1"/>
              <a:t>desarrollo</a:t>
            </a:r>
            <a:r>
              <a:rPr lang="en-US" sz="2000" dirty="0"/>
              <a:t> para </a:t>
            </a:r>
            <a:r>
              <a:rPr lang="en-US" sz="2000" dirty="0" err="1"/>
              <a:t>aplicaciones</a:t>
            </a:r>
            <a:r>
              <a:rPr lang="en-US" sz="2000" dirty="0"/>
              <a:t> web es </a:t>
            </a:r>
            <a:r>
              <a:rPr lang="en-US" sz="2000" dirty="0" err="1"/>
              <a:t>relativamente</a:t>
            </a:r>
            <a:r>
              <a:rPr lang="en-US" sz="2000" dirty="0"/>
              <a:t> </a:t>
            </a:r>
            <a:r>
              <a:rPr lang="en-US" sz="2000" dirty="0" err="1"/>
              <a:t>sencillo</a:t>
            </a:r>
            <a:r>
              <a:rPr lang="en-US" sz="2000" dirty="0"/>
              <a:t> y rentable para las </a:t>
            </a:r>
            <a:r>
              <a:rPr lang="en-US" sz="2000" dirty="0" err="1"/>
              <a:t>empresas</a:t>
            </a:r>
            <a:r>
              <a:rPr lang="en-US" sz="2000" dirty="0"/>
              <a:t>. Los </a:t>
            </a:r>
            <a:r>
              <a:rPr lang="en-US" sz="2000" dirty="0" err="1"/>
              <a:t>equipos</a:t>
            </a:r>
            <a:r>
              <a:rPr lang="en-US" sz="2000" dirty="0"/>
              <a:t> </a:t>
            </a:r>
            <a:r>
              <a:rPr lang="en-US" sz="2000" dirty="0" err="1"/>
              <a:t>pequeños</a:t>
            </a:r>
            <a:r>
              <a:rPr lang="en-US" sz="2000" dirty="0"/>
              <a:t>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lograr</a:t>
            </a:r>
            <a:r>
              <a:rPr lang="en-US" sz="2000" dirty="0"/>
              <a:t> </a:t>
            </a:r>
            <a:r>
              <a:rPr lang="en-US" sz="2000" dirty="0" err="1"/>
              <a:t>ciclos</a:t>
            </a:r>
            <a:r>
              <a:rPr lang="en-US" sz="2000" dirty="0"/>
              <a:t> de </a:t>
            </a:r>
            <a:r>
              <a:rPr lang="en-US" sz="2000" dirty="0" err="1"/>
              <a:t>desarrollo</a:t>
            </a:r>
            <a:r>
              <a:rPr lang="en-US" sz="2000" dirty="0"/>
              <a:t> </a:t>
            </a:r>
            <a:r>
              <a:rPr lang="en-US" sz="2000" dirty="0" err="1"/>
              <a:t>cortos</a:t>
            </a:r>
            <a:r>
              <a:rPr lang="en-US" sz="2000" dirty="0"/>
              <a:t>, lo que </a:t>
            </a:r>
            <a:r>
              <a:rPr lang="en-US" sz="2000" dirty="0" err="1"/>
              <a:t>hace</a:t>
            </a:r>
            <a:r>
              <a:rPr lang="en-US" sz="2000" dirty="0"/>
              <a:t> que las </a:t>
            </a:r>
            <a:r>
              <a:rPr lang="en-US" sz="2000" dirty="0" err="1"/>
              <a:t>aplicaciones</a:t>
            </a:r>
            <a:r>
              <a:rPr lang="en-US" sz="2000" dirty="0"/>
              <a:t> web </a:t>
            </a:r>
            <a:r>
              <a:rPr lang="en-US" sz="2000" dirty="0" err="1"/>
              <a:t>sean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manera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y </a:t>
            </a:r>
            <a:r>
              <a:rPr lang="en-US" sz="2000" dirty="0" err="1"/>
              <a:t>asequible</a:t>
            </a:r>
            <a:r>
              <a:rPr lang="en-US" sz="2000" dirty="0"/>
              <a:t> de </a:t>
            </a:r>
            <a:r>
              <a:rPr lang="en-US" sz="2000" dirty="0" err="1"/>
              <a:t>desarrollar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de </a:t>
            </a:r>
            <a:r>
              <a:rPr lang="en-US" sz="2000" dirty="0" err="1"/>
              <a:t>computación</a:t>
            </a:r>
            <a:r>
              <a:rPr lang="en-US" sz="2000" dirty="0"/>
              <a:t>. Además, dado que la </a:t>
            </a:r>
            <a:r>
              <a:rPr lang="en-US" sz="2000" dirty="0" err="1"/>
              <a:t>misma</a:t>
            </a:r>
            <a:r>
              <a:rPr lang="en-US" sz="2000" dirty="0"/>
              <a:t> </a:t>
            </a:r>
            <a:r>
              <a:rPr lang="en-US" sz="2000" dirty="0" err="1"/>
              <a:t>versión</a:t>
            </a:r>
            <a:r>
              <a:rPr lang="en-US" sz="2000" dirty="0"/>
              <a:t> </a:t>
            </a:r>
            <a:r>
              <a:rPr lang="en-US" sz="2000" dirty="0" err="1"/>
              <a:t>funciona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navegadores</a:t>
            </a:r>
            <a:r>
              <a:rPr lang="en-US" sz="2000" dirty="0"/>
              <a:t> y </a:t>
            </a:r>
            <a:r>
              <a:rPr lang="en-US" sz="2000" dirty="0" err="1"/>
              <a:t>dispositivos</a:t>
            </a:r>
            <a:r>
              <a:rPr lang="en-US" sz="2000" dirty="0"/>
              <a:t> </a:t>
            </a:r>
            <a:r>
              <a:rPr lang="en-US" sz="2000" dirty="0" err="1"/>
              <a:t>modernos</a:t>
            </a:r>
            <a:r>
              <a:rPr lang="en-US" sz="2000" dirty="0"/>
              <a:t>, no </a:t>
            </a:r>
            <a:r>
              <a:rPr lang="en-US" sz="2000" dirty="0" err="1"/>
              <a:t>tendrá</a:t>
            </a:r>
            <a:r>
              <a:rPr lang="en-US" sz="2000" dirty="0"/>
              <a:t> que </a:t>
            </a:r>
            <a:r>
              <a:rPr lang="en-US" sz="2000" dirty="0" err="1"/>
              <a:t>crear</a:t>
            </a:r>
            <a:r>
              <a:rPr lang="en-US" sz="2000" dirty="0"/>
              <a:t> un </a:t>
            </a:r>
            <a:r>
              <a:rPr lang="en-US" sz="2000" dirty="0" err="1"/>
              <a:t>número</a:t>
            </a:r>
            <a:r>
              <a:rPr lang="en-US" sz="2000" dirty="0"/>
              <a:t> </a:t>
            </a:r>
            <a:r>
              <a:rPr lang="en-US" sz="2000" dirty="0" err="1"/>
              <a:t>elevado</a:t>
            </a:r>
            <a:r>
              <a:rPr lang="en-US" sz="2000" dirty="0"/>
              <a:t> de </a:t>
            </a:r>
            <a:r>
              <a:rPr lang="en-US" sz="2000" dirty="0" err="1"/>
              <a:t>iteraciones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para </a:t>
            </a:r>
            <a:r>
              <a:rPr lang="en-US" sz="2000" dirty="0" err="1"/>
              <a:t>varias</a:t>
            </a:r>
            <a:r>
              <a:rPr lang="en-US" sz="2000" dirty="0"/>
              <a:t> </a:t>
            </a:r>
            <a:r>
              <a:rPr lang="en-US" sz="2000" dirty="0" err="1"/>
              <a:t>plataformas</a:t>
            </a:r>
            <a:r>
              <a:rPr lang="en-US" sz="2000" dirty="0"/>
              <a:t>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9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96A70724-4026-21FB-DE13-15B8B6BA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175CC6E7-3F4D-7DD8-3BBF-9B71C7E064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674" y="158244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¿</a:t>
            </a:r>
            <a:r>
              <a:rPr lang="en-US" sz="2400" dirty="0" err="1"/>
              <a:t>beneficios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Aplicación</a:t>
            </a:r>
            <a:r>
              <a:rPr lang="en-US" sz="2400" dirty="0"/>
              <a:t> Web? 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830168-08A0-DBB5-B29C-3CBA5C163CC4}"/>
              </a:ext>
            </a:extLst>
          </p:cNvPr>
          <p:cNvSpPr txBox="1"/>
          <p:nvPr/>
        </p:nvSpPr>
        <p:spPr>
          <a:xfrm>
            <a:off x="6199239" y="1455175"/>
            <a:ext cx="498003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Simplicidad</a:t>
            </a:r>
            <a:r>
              <a:rPr lang="en-US" sz="2400" b="1" dirty="0"/>
              <a:t> para </a:t>
            </a:r>
            <a:r>
              <a:rPr lang="en-US" sz="2400" b="1" dirty="0" err="1"/>
              <a:t>el</a:t>
            </a:r>
            <a:r>
              <a:rPr lang="en-US" sz="2400" b="1" dirty="0"/>
              <a:t> </a:t>
            </a:r>
            <a:r>
              <a:rPr lang="en-US" sz="2400" b="1" dirty="0" err="1"/>
              <a:t>usuario</a:t>
            </a:r>
          </a:p>
          <a:p>
            <a:endParaRPr lang="en-US" sz="2400" b="1" dirty="0"/>
          </a:p>
          <a:p>
            <a:endParaRPr lang="en-US" sz="2000" b="1" dirty="0"/>
          </a:p>
          <a:p>
            <a:pPr algn="just"/>
            <a:r>
              <a:rPr lang="en-US" sz="2000" dirty="0"/>
              <a:t>Los </a:t>
            </a:r>
            <a:r>
              <a:rPr lang="en-US" sz="2000" dirty="0" err="1"/>
              <a:t>usuarios</a:t>
            </a:r>
            <a:r>
              <a:rPr lang="en-US" sz="2000" dirty="0"/>
              <a:t> no </a:t>
            </a:r>
            <a:r>
              <a:rPr lang="en-US" sz="2000" dirty="0" err="1"/>
              <a:t>tienen</a:t>
            </a:r>
            <a:r>
              <a:rPr lang="en-US" sz="2000" dirty="0"/>
              <a:t> que </a:t>
            </a:r>
            <a:r>
              <a:rPr lang="en-US" sz="2000" dirty="0" err="1"/>
              <a:t>descargar</a:t>
            </a:r>
            <a:r>
              <a:rPr lang="en-US" sz="2000" dirty="0"/>
              <a:t> las </a:t>
            </a:r>
            <a:r>
              <a:rPr lang="en-US" sz="2000" dirty="0" err="1"/>
              <a:t>aplicaciones</a:t>
            </a:r>
            <a:r>
              <a:rPr lang="en-US" sz="2000" dirty="0"/>
              <a:t> web, lo que </a:t>
            </a:r>
            <a:r>
              <a:rPr lang="en-US" sz="2000" dirty="0" err="1"/>
              <a:t>hace</a:t>
            </a:r>
            <a:r>
              <a:rPr lang="en-US" sz="2000" dirty="0"/>
              <a:t> que </a:t>
            </a:r>
            <a:r>
              <a:rPr lang="en-US" sz="2000" dirty="0" err="1"/>
              <a:t>sean</a:t>
            </a:r>
            <a:r>
              <a:rPr lang="en-US" sz="2000" dirty="0"/>
              <a:t> </a:t>
            </a:r>
            <a:r>
              <a:rPr lang="en-US" sz="2000" dirty="0" err="1"/>
              <a:t>fáciles</a:t>
            </a:r>
            <a:r>
              <a:rPr lang="en-US" sz="2000" dirty="0"/>
              <a:t> de acceder a la </a:t>
            </a:r>
            <a:r>
              <a:rPr lang="en-US" sz="2000" dirty="0" err="1"/>
              <a:t>vez</a:t>
            </a:r>
            <a:r>
              <a:rPr lang="en-US" sz="2000" dirty="0"/>
              <a:t> que se </a:t>
            </a:r>
            <a:r>
              <a:rPr lang="en-US" sz="2000" dirty="0" err="1"/>
              <a:t>prescinde</a:t>
            </a:r>
            <a:r>
              <a:rPr lang="en-US" sz="2000" dirty="0"/>
              <a:t> de </a:t>
            </a:r>
            <a:r>
              <a:rPr lang="en-US" sz="2000" dirty="0" err="1"/>
              <a:t>mantenimiento</a:t>
            </a:r>
            <a:r>
              <a:rPr lang="en-US" sz="2000" dirty="0"/>
              <a:t> y </a:t>
            </a:r>
            <a:r>
              <a:rPr lang="en-US" sz="2000" dirty="0" err="1"/>
              <a:t>capacidad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disco </a:t>
            </a:r>
            <a:r>
              <a:rPr lang="en-US" sz="2000" dirty="0" err="1"/>
              <a:t>duro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parte</a:t>
            </a:r>
            <a:r>
              <a:rPr lang="en-US" sz="2000" dirty="0"/>
              <a:t> del disco </a:t>
            </a:r>
            <a:r>
              <a:rPr lang="en-US" sz="2000" dirty="0" err="1"/>
              <a:t>duro</a:t>
            </a:r>
            <a:r>
              <a:rPr lang="en-US" sz="2000" dirty="0"/>
              <a:t>. Las </a:t>
            </a:r>
            <a:r>
              <a:rPr lang="en-US" sz="2000" dirty="0" err="1"/>
              <a:t>aplicaciones</a:t>
            </a:r>
            <a:r>
              <a:rPr lang="en-US" sz="2000" dirty="0"/>
              <a:t> web </a:t>
            </a:r>
            <a:r>
              <a:rPr lang="en-US" sz="2000" dirty="0" err="1"/>
              <a:t>reciben</a:t>
            </a:r>
            <a:r>
              <a:rPr lang="en-US" sz="2000" dirty="0"/>
              <a:t> </a:t>
            </a:r>
            <a:r>
              <a:rPr lang="en-US" sz="2000" dirty="0" err="1"/>
              <a:t>actualizaciones</a:t>
            </a:r>
            <a:r>
              <a:rPr lang="en-US" sz="2000" dirty="0"/>
              <a:t> de software y </a:t>
            </a:r>
            <a:r>
              <a:rPr lang="en-US" sz="2000" dirty="0" err="1"/>
              <a:t>seguridad</a:t>
            </a:r>
            <a:r>
              <a:rPr lang="en-US" sz="2000" dirty="0"/>
              <a:t> de </a:t>
            </a:r>
            <a:r>
              <a:rPr lang="en-US" sz="2000" dirty="0" err="1"/>
              <a:t>manera</a:t>
            </a:r>
            <a:r>
              <a:rPr lang="en-US" sz="2000" dirty="0"/>
              <a:t> </a:t>
            </a:r>
            <a:r>
              <a:rPr lang="en-US" sz="2000" dirty="0" err="1"/>
              <a:t>automática</a:t>
            </a:r>
            <a:r>
              <a:rPr lang="en-US" sz="2000" dirty="0"/>
              <a:t>, lo que </a:t>
            </a:r>
            <a:r>
              <a:rPr lang="en-US" sz="2000" dirty="0" err="1"/>
              <a:t>significa</a:t>
            </a:r>
            <a:r>
              <a:rPr lang="en-US" sz="2000" dirty="0"/>
              <a:t> que </a:t>
            </a:r>
            <a:r>
              <a:rPr lang="en-US" sz="2000" dirty="0" err="1"/>
              <a:t>siempre</a:t>
            </a:r>
            <a:r>
              <a:rPr lang="en-US" sz="2000" dirty="0"/>
              <a:t> </a:t>
            </a:r>
            <a:r>
              <a:rPr lang="en-US" sz="2000" dirty="0" err="1"/>
              <a:t>están</a:t>
            </a:r>
            <a:r>
              <a:rPr lang="en-US" sz="2000" dirty="0"/>
              <a:t> </a:t>
            </a:r>
            <a:r>
              <a:rPr lang="en-US" sz="2000" dirty="0" err="1"/>
              <a:t>actualizadas</a:t>
            </a:r>
            <a:r>
              <a:rPr lang="en-US" sz="2000" dirty="0"/>
              <a:t> y </a:t>
            </a:r>
            <a:r>
              <a:rPr lang="en-US" sz="2000" dirty="0" err="1"/>
              <a:t>presentan</a:t>
            </a:r>
            <a:r>
              <a:rPr lang="en-US" sz="2000" dirty="0"/>
              <a:t> </a:t>
            </a:r>
            <a:r>
              <a:rPr lang="en-US" sz="2000" dirty="0" err="1"/>
              <a:t>menor</a:t>
            </a:r>
            <a:r>
              <a:rPr lang="en-US" sz="2000" dirty="0"/>
              <a:t> </a:t>
            </a:r>
            <a:r>
              <a:rPr lang="en-US" sz="2000" dirty="0" err="1"/>
              <a:t>riesgo</a:t>
            </a:r>
            <a:r>
              <a:rPr lang="en-US" sz="2000" dirty="0"/>
              <a:t> de </a:t>
            </a:r>
            <a:r>
              <a:rPr lang="en-US" sz="2000" dirty="0" err="1"/>
              <a:t>sufrir</a:t>
            </a:r>
            <a:r>
              <a:rPr lang="en-US" sz="2000" dirty="0"/>
              <a:t> </a:t>
            </a:r>
            <a:r>
              <a:rPr lang="en-US" sz="2000" dirty="0" err="1"/>
              <a:t>brechas</a:t>
            </a:r>
            <a:r>
              <a:rPr lang="en-US" sz="2000" dirty="0"/>
              <a:t> de </a:t>
            </a:r>
            <a:r>
              <a:rPr lang="en-US" sz="2000" dirty="0" err="1"/>
              <a:t>seguridad</a:t>
            </a:r>
            <a:r>
              <a:rPr lang="en-US" sz="2000" dirty="0"/>
              <a:t>.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7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0F97DE7-42AE-E16E-71C1-62E5162E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B64B5BE2-ABF9-BC05-D215-1EA358C11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674" y="158244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¿</a:t>
            </a:r>
            <a:r>
              <a:rPr lang="en-US" sz="2400" dirty="0" err="1"/>
              <a:t>beneficios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Aplicación</a:t>
            </a:r>
            <a:r>
              <a:rPr lang="en-US" sz="2400" dirty="0"/>
              <a:t> Web? 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60763A5-20EE-BD10-CAC8-18DFCA4DD3EB}"/>
              </a:ext>
            </a:extLst>
          </p:cNvPr>
          <p:cNvSpPr txBox="1"/>
          <p:nvPr/>
        </p:nvSpPr>
        <p:spPr>
          <a:xfrm>
            <a:off x="6199239" y="1455175"/>
            <a:ext cx="4980037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Escalabilidad</a:t>
            </a:r>
          </a:p>
          <a:p>
            <a:endParaRPr lang="en-US" sz="2400" b="1" dirty="0"/>
          </a:p>
          <a:p>
            <a:endParaRPr lang="en-US" sz="2000" b="1" dirty="0"/>
          </a:p>
          <a:p>
            <a:pPr algn="just"/>
            <a:r>
              <a:rPr lang="en-US" sz="2000" dirty="0"/>
              <a:t>Las </a:t>
            </a:r>
            <a:r>
              <a:rPr lang="en-US" sz="2000" dirty="0" err="1"/>
              <a:t>empresas</a:t>
            </a:r>
            <a:r>
              <a:rPr lang="en-US" sz="2000" dirty="0"/>
              <a:t> que </a:t>
            </a:r>
            <a:r>
              <a:rPr lang="en-US" sz="2000" dirty="0" err="1"/>
              <a:t>utilizan</a:t>
            </a:r>
            <a:r>
              <a:rPr lang="en-US" sz="2000" dirty="0"/>
              <a:t> </a:t>
            </a:r>
            <a:r>
              <a:rPr lang="en-US" sz="2000" dirty="0" err="1"/>
              <a:t>aplicaciones</a:t>
            </a:r>
            <a:r>
              <a:rPr lang="en-US" sz="2000" dirty="0"/>
              <a:t> web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agregar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sea </a:t>
            </a:r>
            <a:r>
              <a:rPr lang="en-US" sz="2000" dirty="0" err="1"/>
              <a:t>necesario</a:t>
            </a:r>
            <a:r>
              <a:rPr lang="en-US" sz="2000" dirty="0"/>
              <a:t>, sin </a:t>
            </a:r>
            <a:r>
              <a:rPr lang="en-US" sz="2000" dirty="0" err="1"/>
              <a:t>necesidad</a:t>
            </a:r>
            <a:r>
              <a:rPr lang="en-US" sz="2000" dirty="0"/>
              <a:t> de </a:t>
            </a:r>
            <a:r>
              <a:rPr lang="en-US" sz="2000" dirty="0" err="1"/>
              <a:t>infraestructura</a:t>
            </a:r>
            <a:r>
              <a:rPr lang="en-US" sz="2000" dirty="0"/>
              <a:t> </a:t>
            </a:r>
            <a:r>
              <a:rPr lang="en-US" sz="2000" dirty="0" err="1"/>
              <a:t>adicional</a:t>
            </a:r>
            <a:r>
              <a:rPr lang="en-US" sz="2000" dirty="0"/>
              <a:t> o hardware </a:t>
            </a:r>
            <a:r>
              <a:rPr lang="en-US" sz="2000" dirty="0" err="1"/>
              <a:t>costoso</a:t>
            </a:r>
            <a:r>
              <a:rPr lang="en-US" sz="2000" dirty="0"/>
              <a:t>. Además, la mayor </a:t>
            </a:r>
            <a:r>
              <a:rPr lang="en-US" sz="2000" dirty="0" err="1"/>
              <a:t>parte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datos</a:t>
            </a:r>
            <a:r>
              <a:rPr lang="en-US" sz="2000" dirty="0"/>
              <a:t> de las </a:t>
            </a:r>
            <a:r>
              <a:rPr lang="en-US" sz="2000" dirty="0" err="1"/>
              <a:t>aplicaciones</a:t>
            </a:r>
            <a:r>
              <a:rPr lang="en-US" sz="2000" dirty="0"/>
              <a:t> web se </a:t>
            </a:r>
            <a:r>
              <a:rPr lang="en-US" sz="2000" dirty="0" err="1"/>
              <a:t>almacena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nube</a:t>
            </a:r>
            <a:r>
              <a:rPr lang="en-US" sz="2000" dirty="0"/>
              <a:t>, lo que </a:t>
            </a:r>
            <a:r>
              <a:rPr lang="en-US" sz="2000" dirty="0" err="1"/>
              <a:t>significa</a:t>
            </a:r>
            <a:r>
              <a:rPr lang="en-US" sz="2000" dirty="0"/>
              <a:t> que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empresa</a:t>
            </a:r>
            <a:r>
              <a:rPr lang="en-US" sz="2000" dirty="0"/>
              <a:t> no </a:t>
            </a:r>
            <a:r>
              <a:rPr lang="en-US" sz="2000" dirty="0" err="1"/>
              <a:t>tendrá</a:t>
            </a:r>
            <a:r>
              <a:rPr lang="en-US" sz="2000" dirty="0"/>
              <a:t> que </a:t>
            </a:r>
            <a:r>
              <a:rPr lang="en-US" sz="2000" dirty="0" err="1"/>
              <a:t>invertir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capacidad</a:t>
            </a:r>
            <a:r>
              <a:rPr lang="en-US" sz="2000" dirty="0"/>
              <a:t> de </a:t>
            </a:r>
            <a:r>
              <a:rPr lang="en-US" sz="2000" dirty="0" err="1"/>
              <a:t>almacenamiento</a:t>
            </a:r>
            <a:r>
              <a:rPr lang="en-US" sz="2000" dirty="0"/>
              <a:t> </a:t>
            </a:r>
            <a:r>
              <a:rPr lang="en-US" sz="2000" dirty="0" err="1"/>
              <a:t>adicional</a:t>
            </a:r>
            <a:r>
              <a:rPr lang="en-US" sz="2000" dirty="0"/>
              <a:t> para </a:t>
            </a:r>
            <a:r>
              <a:rPr lang="en-US" sz="2000" dirty="0" err="1"/>
              <a:t>ejecutar</a:t>
            </a:r>
            <a:r>
              <a:rPr lang="en-US" sz="2000" dirty="0"/>
              <a:t> </a:t>
            </a:r>
            <a:r>
              <a:rPr lang="en-US" sz="2000" dirty="0" err="1"/>
              <a:t>aplicaciones</a:t>
            </a:r>
            <a:r>
              <a:rPr lang="en-US" sz="2000" dirty="0"/>
              <a:t> web.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38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BE41CC2-81AD-6EDC-09A0-4719D824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>
            <a:extLst>
              <a:ext uri="{FF2B5EF4-FFF2-40B4-BE49-F238E27FC236}">
                <a16:creationId xmlns:a16="http://schemas.microsoft.com/office/drawing/2014/main" id="{972F24D9-A299-875E-4B9F-2DFE387B061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7098717" y="2397309"/>
            <a:ext cx="4509395" cy="75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dirty="0">
                <a:solidFill>
                  <a:srgbClr val="1C1711"/>
                </a:solidFill>
              </a:rPr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diferencia</a:t>
            </a:r>
            <a:r>
              <a:rPr lang="en-US" dirty="0"/>
              <a:t> hay entre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aplicación</a:t>
            </a:r>
            <a:r>
              <a:rPr lang="en-US" dirty="0"/>
              <a:t> web, un sitio web</a:t>
            </a:r>
            <a:r>
              <a:rPr lang="en-US" dirty="0">
                <a:solidFill>
                  <a:srgbClr val="1C1711"/>
                </a:solidFill>
              </a:rPr>
              <a:t> y </a:t>
            </a:r>
            <a:r>
              <a:rPr lang="en-US" dirty="0" err="1">
                <a:solidFill>
                  <a:srgbClr val="1C1711"/>
                </a:solidFill>
              </a:rPr>
              <a:t>una</a:t>
            </a:r>
            <a:r>
              <a:rPr lang="en-US" dirty="0">
                <a:solidFill>
                  <a:srgbClr val="1C1711"/>
                </a:solidFill>
              </a:rPr>
              <a:t> </a:t>
            </a:r>
            <a:r>
              <a:rPr lang="en-US" dirty="0" err="1">
                <a:solidFill>
                  <a:srgbClr val="1C1711"/>
                </a:solidFill>
              </a:rPr>
              <a:t>pagina</a:t>
            </a:r>
            <a:r>
              <a:rPr lang="en-US" dirty="0">
                <a:solidFill>
                  <a:srgbClr val="1C1711"/>
                </a:solidFill>
              </a:rPr>
              <a:t> web? </a:t>
            </a:r>
            <a:endParaRPr lang="es-ES" dirty="0"/>
          </a:p>
        </p:txBody>
      </p:sp>
      <p:pic>
        <p:nvPicPr>
          <p:cNvPr id="177" name="Google Shape;177;p44">
            <a:extLst>
              <a:ext uri="{FF2B5EF4-FFF2-40B4-BE49-F238E27FC236}">
                <a16:creationId xmlns:a16="http://schemas.microsoft.com/office/drawing/2014/main" id="{512258A5-098A-FF90-3698-5551ADBAFD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de la publicación">
            <a:extLst>
              <a:ext uri="{FF2B5EF4-FFF2-40B4-BE49-F238E27FC236}">
                <a16:creationId xmlns:a16="http://schemas.microsoft.com/office/drawing/2014/main" id="{11DC5698-BE00-FCCB-33C4-68AE7A4ADE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545"/>
          <a:stretch>
            <a:fillRect/>
          </a:stretch>
        </p:blipFill>
        <p:spPr>
          <a:xfrm>
            <a:off x="110613" y="147484"/>
            <a:ext cx="6858000" cy="65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2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6409FBA-459C-7C7D-C510-5FEF29E2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>
            <a:extLst>
              <a:ext uri="{FF2B5EF4-FFF2-40B4-BE49-F238E27FC236}">
                <a16:creationId xmlns:a16="http://schemas.microsoft.com/office/drawing/2014/main" id="{765BA871-1402-AB8B-9C04-C9EE9860480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70879" y="430857"/>
            <a:ext cx="5320556" cy="78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dirty="0">
                <a:solidFill>
                  <a:srgbClr val="1C1711"/>
                </a:solidFill>
              </a:rPr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diferencia</a:t>
            </a:r>
            <a:r>
              <a:rPr lang="en-US" dirty="0"/>
              <a:t> hay entre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aplicación</a:t>
            </a:r>
            <a:r>
              <a:rPr lang="en-US" dirty="0"/>
              <a:t> web y un sitio web</a:t>
            </a:r>
            <a:r>
              <a:rPr lang="en-US" dirty="0">
                <a:solidFill>
                  <a:srgbClr val="1C1711"/>
                </a:solidFill>
              </a:rPr>
              <a:t>? </a:t>
            </a:r>
            <a:endParaRPr lang="es-ES" dirty="0"/>
          </a:p>
        </p:txBody>
      </p:sp>
      <p:pic>
        <p:nvPicPr>
          <p:cNvPr id="177" name="Google Shape;177;p44">
            <a:extLst>
              <a:ext uri="{FF2B5EF4-FFF2-40B4-BE49-F238E27FC236}">
                <a16:creationId xmlns:a16="http://schemas.microsoft.com/office/drawing/2014/main" id="{1D673503-966E-657A-6D45-C05DBCFE85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diferencia entre aplicación web y sitio web">
            <a:extLst>
              <a:ext uri="{FF2B5EF4-FFF2-40B4-BE49-F238E27FC236}">
                <a16:creationId xmlns:a16="http://schemas.microsoft.com/office/drawing/2014/main" id="{5149F369-EA37-6F44-3031-BF9E6D13D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787" y="1670509"/>
            <a:ext cx="6590070" cy="472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8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498F97-BFDE-A4E6-0AAD-37FFA3D3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>
            <a:extLst>
              <a:ext uri="{FF2B5EF4-FFF2-40B4-BE49-F238E27FC236}">
                <a16:creationId xmlns:a16="http://schemas.microsoft.com/office/drawing/2014/main" id="{5BFF5AEA-8C3C-85E0-54AD-E69E8EF510D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79266" y="172760"/>
            <a:ext cx="6856846" cy="75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dirty="0">
                <a:solidFill>
                  <a:srgbClr val="1C1711"/>
                </a:solidFill>
              </a:rPr>
              <a:t>¿Como </a:t>
            </a:r>
            <a:r>
              <a:rPr lang="en-US" dirty="0" err="1">
                <a:solidFill>
                  <a:srgbClr val="1C1711"/>
                </a:solidFill>
              </a:rPr>
              <a:t>funcionan</a:t>
            </a:r>
            <a:r>
              <a:rPr lang="en-US" dirty="0">
                <a:solidFill>
                  <a:srgbClr val="1C1711"/>
                </a:solidFill>
              </a:rPr>
              <a:t> las </a:t>
            </a:r>
            <a:r>
              <a:rPr lang="en-US" dirty="0" err="1">
                <a:solidFill>
                  <a:srgbClr val="1C1711"/>
                </a:solidFill>
              </a:rPr>
              <a:t>aplicaciones</a:t>
            </a:r>
            <a:r>
              <a:rPr lang="en-US" dirty="0">
                <a:solidFill>
                  <a:srgbClr val="1C1711"/>
                </a:solidFill>
              </a:rPr>
              <a:t> Web? </a:t>
            </a:r>
            <a:endParaRPr lang="es-ES" dirty="0"/>
          </a:p>
        </p:txBody>
      </p:sp>
      <p:sp>
        <p:nvSpPr>
          <p:cNvPr id="176" name="Google Shape;176;p44">
            <a:extLst>
              <a:ext uri="{FF2B5EF4-FFF2-40B4-BE49-F238E27FC236}">
                <a16:creationId xmlns:a16="http://schemas.microsoft.com/office/drawing/2014/main" id="{A25C73E1-DC78-B32C-9380-EB287004FF7A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357945" y="1109272"/>
            <a:ext cx="10233231" cy="557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algn="just">
              <a:lnSpc>
                <a:spcPct val="170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Las </a:t>
            </a:r>
            <a:r>
              <a:rPr lang="en-US" sz="1600" dirty="0" err="1">
                <a:solidFill>
                  <a:srgbClr val="000000"/>
                </a:solidFill>
              </a:rPr>
              <a:t>aplicaciones</a:t>
            </a:r>
            <a:r>
              <a:rPr lang="en-US" sz="1600" dirty="0">
                <a:solidFill>
                  <a:srgbClr val="000000"/>
                </a:solidFill>
              </a:rPr>
              <a:t> web tienen una arquitectura cliente-servidor. Su código se divide en dos componentes: scripts del lado del cliente y scripts del lado del servidor.  </a:t>
            </a:r>
            <a:endParaRPr lang="es-ES" sz="1600" dirty="0"/>
          </a:p>
          <a:p>
            <a:pPr algn="just">
              <a:lnSpc>
                <a:spcPct val="170000"/>
              </a:lnSpc>
              <a:buNone/>
            </a:pPr>
            <a:r>
              <a:rPr lang="en-US" sz="1600" b="1" dirty="0"/>
              <a:t>Arquitectura del lado del cliente</a:t>
            </a:r>
            <a:endParaRPr lang="en-US" sz="1600" dirty="0"/>
          </a:p>
          <a:p>
            <a:pPr algn="just">
              <a:lnSpc>
                <a:spcPct val="170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El script del lado del cliente se encarga de la funcionalidad de la interfaz de usuario, como los botones y los cuadros con menús desplegables. Cuando el usuario final hace clic en el enlace de la aplicación web, el navegador web carga el script del lado del cliente y renderiza los elementos gráficos y el texto para la interacción del usuario. Por ejemplo, el usuario puede leer contenidos, ver videos o cumplimentar la información de un formulario de contacto. Las acciones como hacer clic en el botón de enviar se dirigen al servidor como una solicitud del cliente.</a:t>
            </a:r>
            <a:endParaRPr lang="es-ES" sz="1600" dirty="0"/>
          </a:p>
          <a:p>
            <a:pPr algn="just">
              <a:lnSpc>
                <a:spcPct val="170000"/>
              </a:lnSpc>
              <a:buNone/>
            </a:pPr>
            <a:r>
              <a:rPr lang="en-US" sz="1600" b="1" dirty="0"/>
              <a:t>Arquitectura del lado del servidor</a:t>
            </a:r>
            <a:endParaRPr lang="en-US" sz="1600" dirty="0"/>
          </a:p>
          <a:p>
            <a:pPr algn="just">
              <a:lnSpc>
                <a:spcPct val="170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Calibri"/>
              </a:rPr>
              <a:t>El script del lado del servidor se encarga del procesamiento de datos. El servidor de la aplicación web procesa las solicitudes del cliente y envía una respuesta de vuelta. Las solicitudes suelen ser obtener más datos, editar datos o guardar nuevos datos. Por ejemplo, si el usuario hace clic en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botón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i="1" dirty="0">
                <a:solidFill>
                  <a:srgbClr val="000000"/>
                </a:solidFill>
                <a:ea typeface="Calibri"/>
              </a:rPr>
              <a:t>Leer </a:t>
            </a:r>
            <a:r>
              <a:rPr lang="en-US" sz="1600" i="1" dirty="0" err="1">
                <a:solidFill>
                  <a:srgbClr val="000000"/>
                </a:solidFill>
                <a:ea typeface="Calibri"/>
              </a:rPr>
              <a:t>más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servidor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 la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aplicación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web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enviará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contenido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al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usuario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. Si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usuario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hace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clic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botón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ea typeface="Calibri"/>
              </a:rPr>
              <a:t>Enviar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servidor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 la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aplicación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guardará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los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datos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usuario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en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la base de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datos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. En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algunos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casos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servidor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completa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la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solicitud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datos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envía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la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página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HTML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completa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al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cliente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. Esto se llama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renderizado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lado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 del </a:t>
            </a:r>
            <a:r>
              <a:rPr lang="en-US" sz="1600" dirty="0" err="1">
                <a:solidFill>
                  <a:srgbClr val="000000"/>
                </a:solidFill>
                <a:ea typeface="Calibri"/>
              </a:rPr>
              <a:t>servidor</a:t>
            </a:r>
            <a:r>
              <a:rPr lang="en-US" sz="1600" dirty="0">
                <a:solidFill>
                  <a:srgbClr val="000000"/>
                </a:solidFill>
                <a:ea typeface="Calibri"/>
              </a:rPr>
              <a:t>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77" name="Google Shape;177;p44">
            <a:extLst>
              <a:ext uri="{FF2B5EF4-FFF2-40B4-BE49-F238E27FC236}">
                <a16:creationId xmlns:a16="http://schemas.microsoft.com/office/drawing/2014/main" id="{89BEF48B-54BF-ADDB-AC18-62C174173C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6901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3"/>
          <p:cNvSpPr txBox="1"/>
          <p:nvPr/>
        </p:nvSpPr>
        <p:spPr>
          <a:xfrm>
            <a:off x="663285" y="4476859"/>
            <a:ext cx="47694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dirty="0" err="1">
                <a:solidFill>
                  <a:schemeClr val="dk1"/>
                </a:solidFill>
              </a:rPr>
              <a:t>Arquitectura</a:t>
            </a:r>
            <a:r>
              <a:rPr lang="en-US" sz="4000" b="1" dirty="0">
                <a:solidFill>
                  <a:schemeClr val="dk1"/>
                </a:solidFill>
              </a:rPr>
              <a:t> general de </a:t>
            </a:r>
            <a:r>
              <a:rPr lang="en-US" sz="4000" b="1" dirty="0" err="1">
                <a:solidFill>
                  <a:schemeClr val="dk1"/>
                </a:solidFill>
              </a:rPr>
              <a:t>una</a:t>
            </a:r>
            <a:r>
              <a:rPr lang="en-US" sz="4000" b="1" dirty="0">
                <a:solidFill>
                  <a:schemeClr val="dk1"/>
                </a:solidFill>
              </a:rPr>
              <a:t> Web App</a:t>
            </a:r>
            <a:endParaRPr lang="en-US"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1070ACC3-E672-75AE-7D91-A30A77C2B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" r="17480"/>
          <a:stretch>
            <a:fillRect/>
          </a:stretch>
        </p:blipFill>
        <p:spPr>
          <a:xfrm>
            <a:off x="172065" y="0"/>
            <a:ext cx="3760530" cy="6858000"/>
          </a:xfrm>
          <a:prstGeom prst="rect">
            <a:avLst/>
          </a:prstGeom>
        </p:spPr>
      </p:pic>
      <p:sp>
        <p:nvSpPr>
          <p:cNvPr id="4" name="Google Shape;241;p53">
            <a:extLst>
              <a:ext uri="{FF2B5EF4-FFF2-40B4-BE49-F238E27FC236}">
                <a16:creationId xmlns:a16="http://schemas.microsoft.com/office/drawing/2014/main" id="{84B01B16-6285-8F5C-871C-015218C29476}"/>
              </a:ext>
            </a:extLst>
          </p:cNvPr>
          <p:cNvSpPr txBox="1"/>
          <p:nvPr/>
        </p:nvSpPr>
        <p:spPr>
          <a:xfrm>
            <a:off x="4116865" y="113794"/>
            <a:ext cx="47694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2800" b="1" err="1">
                <a:solidFill>
                  <a:schemeClr val="dk1"/>
                </a:solidFill>
              </a:rPr>
              <a:t>Arquitectura</a:t>
            </a:r>
            <a:r>
              <a:rPr lang="en-US" sz="2800" b="1" dirty="0">
                <a:solidFill>
                  <a:schemeClr val="dk1"/>
                </a:solidFill>
              </a:rPr>
              <a:t> general de </a:t>
            </a:r>
            <a:r>
              <a:rPr lang="en-US" sz="2800" b="1" err="1">
                <a:solidFill>
                  <a:schemeClr val="dk1"/>
                </a:solidFill>
              </a:rPr>
              <a:t>una</a:t>
            </a:r>
            <a:r>
              <a:rPr lang="en-US" sz="2800" b="1" dirty="0">
                <a:solidFill>
                  <a:schemeClr val="dk1"/>
                </a:solidFill>
              </a:rPr>
              <a:t> Web App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9BBFDD42-41E7-54A7-BAF4-19926A4171D0}"/>
              </a:ext>
            </a:extLst>
          </p:cNvPr>
          <p:cNvSpPr txBox="1">
            <a:spLocks/>
          </p:cNvSpPr>
          <p:nvPr/>
        </p:nvSpPr>
        <p:spPr>
          <a:xfrm>
            <a:off x="461943" y="774986"/>
            <a:ext cx="2112782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Frontend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196EC9-CD99-C849-6A72-B90D9763A8F4}"/>
              </a:ext>
            </a:extLst>
          </p:cNvPr>
          <p:cNvSpPr txBox="1"/>
          <p:nvPr/>
        </p:nvSpPr>
        <p:spPr>
          <a:xfrm>
            <a:off x="1042220" y="1262640"/>
            <a:ext cx="5053780" cy="4651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O" sz="2000" dirty="0"/>
              <a:t>El </a:t>
            </a:r>
            <a:r>
              <a:rPr lang="es-CO" sz="2000" dirty="0" err="1"/>
              <a:t>frontend</a:t>
            </a:r>
            <a:r>
              <a:rPr lang="es-CO" sz="2000" dirty="0"/>
              <a:t> de una aplicación web es la parte que el usuario ve e interactúa directamente, incluyendo la interfaz gráfica, los botones, menús, imágenes y todo lo que se muestra en la pantalla del navegador. En esencia, es el lado del cliente que se encarga de la experiencia visual y la interacción del usuario El </a:t>
            </a:r>
            <a:r>
              <a:rPr lang="es-CO" sz="2000" dirty="0" err="1"/>
              <a:t>frontend</a:t>
            </a:r>
            <a:r>
              <a:rPr lang="es-CO" sz="2000" dirty="0"/>
              <a:t> de la aplicación fue construido con HTML, CSS y JavaScript. </a:t>
            </a:r>
            <a:r>
              <a:rPr lang="es-ES" sz="2000" dirty="0"/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06ED85CF-F49A-C68B-2A42-7C6AED12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0E4839AE-CB3B-BFBC-9CB3-CA4A30823FB7}"/>
              </a:ext>
            </a:extLst>
          </p:cNvPr>
          <p:cNvSpPr txBox="1">
            <a:spLocks/>
          </p:cNvSpPr>
          <p:nvPr/>
        </p:nvSpPr>
        <p:spPr>
          <a:xfrm>
            <a:off x="461943" y="774986"/>
            <a:ext cx="2112782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Frontend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E5A08F-DBF9-25E1-D178-91906DF1F4C7}"/>
              </a:ext>
            </a:extLst>
          </p:cNvPr>
          <p:cNvSpPr txBox="1"/>
          <p:nvPr/>
        </p:nvSpPr>
        <p:spPr>
          <a:xfrm>
            <a:off x="582562" y="1713271"/>
            <a:ext cx="5864941" cy="4109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s-ES" sz="2000" b="1" dirty="0"/>
              <a:t>Qué hace:</a:t>
            </a:r>
            <a:r>
              <a:rPr lang="es-ES" sz="2000" dirty="0"/>
              <a:t> Se encarga de la interfaz de usuario, la experiencia visual y la forma en que el usuario interactúa con la aplicación. </a:t>
            </a:r>
          </a:p>
          <a:p>
            <a:pPr marL="285750" indent="-285750" algn="just">
              <a:buChar char="•"/>
            </a:pPr>
            <a:endParaRPr lang="es-ES" sz="2000" dirty="0"/>
          </a:p>
          <a:p>
            <a:pPr marL="285750" indent="-285750" algn="just">
              <a:buChar char="•"/>
            </a:pPr>
            <a:r>
              <a:rPr lang="es-ES" sz="2000" b="1" dirty="0"/>
              <a:t>Ejemplos:</a:t>
            </a:r>
            <a:r>
              <a:rPr lang="es-ES" sz="2000" dirty="0"/>
              <a:t> Botones, formularios, diseños de páginas, imágenes, videos, animación, interacciones del usuario (clics, arrastres, etc.).</a:t>
            </a:r>
            <a:endParaRPr lang="es-CO" sz="2000" dirty="0"/>
          </a:p>
          <a:p>
            <a:pPr marL="285750" indent="-285750" algn="just">
              <a:buChar char="•"/>
            </a:pPr>
            <a:endParaRPr lang="es-CO" sz="2000"/>
          </a:p>
          <a:p>
            <a:pPr marL="285750" indent="-285750" algn="just">
              <a:buChar char="•"/>
            </a:pPr>
            <a:r>
              <a:rPr lang="es-ES" sz="2000" b="1" dirty="0"/>
              <a:t>Tecnologías:</a:t>
            </a:r>
            <a:r>
              <a:rPr lang="es-ES" sz="2000" dirty="0"/>
              <a:t> HTML, CSS, JavaScript, </a:t>
            </a:r>
            <a:r>
              <a:rPr lang="es-ES" sz="2000" err="1"/>
              <a:t>frameworks</a:t>
            </a:r>
            <a:r>
              <a:rPr lang="es-ES" sz="2000" dirty="0"/>
              <a:t> como </a:t>
            </a:r>
            <a:r>
              <a:rPr lang="es-ES" sz="2000" err="1"/>
              <a:t>React</a:t>
            </a:r>
            <a:r>
              <a:rPr lang="es-ES" sz="2000" dirty="0"/>
              <a:t>, Angular o Vue.js. </a:t>
            </a:r>
            <a:endParaRPr lang="es-CO" sz="2000"/>
          </a:p>
          <a:p>
            <a:pPr marL="285750" indent="-285750" algn="just">
              <a:buChar char="•"/>
            </a:pPr>
            <a:endParaRPr lang="es-ES" sz="2000" dirty="0"/>
          </a:p>
          <a:p>
            <a:pPr marL="285750" indent="-285750" algn="just">
              <a:buChar char="•"/>
            </a:pPr>
            <a:r>
              <a:rPr lang="es-ES" sz="2000" b="1" dirty="0"/>
              <a:t>Responsable:</a:t>
            </a:r>
            <a:r>
              <a:rPr lang="es-ES" sz="2000" dirty="0"/>
              <a:t> Desarrolladores </a:t>
            </a:r>
            <a:r>
              <a:rPr lang="es-ES" sz="2000" err="1"/>
              <a:t>front-end</a:t>
            </a:r>
            <a:r>
              <a:rPr lang="es-ES" sz="2000" dirty="0"/>
              <a:t>.</a:t>
            </a:r>
          </a:p>
          <a:p>
            <a:pPr algn="just">
              <a:lnSpc>
                <a:spcPct val="150000"/>
              </a:lnSpc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73585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890598F6-BBF0-40FF-2FF9-7B9F4285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0CE1BD7D-9B7C-0B79-4990-44D6084223E6}"/>
              </a:ext>
            </a:extLst>
          </p:cNvPr>
          <p:cNvSpPr txBox="1">
            <a:spLocks/>
          </p:cNvSpPr>
          <p:nvPr/>
        </p:nvSpPr>
        <p:spPr>
          <a:xfrm>
            <a:off x="461943" y="774986"/>
            <a:ext cx="2112782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Frontend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D94714-E4FF-3CDF-FFFC-3D0C5E6308A6}"/>
              </a:ext>
            </a:extLst>
          </p:cNvPr>
          <p:cNvSpPr txBox="1"/>
          <p:nvPr/>
        </p:nvSpPr>
        <p:spPr>
          <a:xfrm>
            <a:off x="927335" y="2043054"/>
            <a:ext cx="4980038" cy="22011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latin typeface="+mj-lt"/>
                <a:ea typeface="Calibri"/>
                <a:cs typeface="Calibri"/>
              </a:rPr>
              <a:t>-</a:t>
            </a:r>
            <a:r>
              <a:rPr lang="en-US" sz="2000" b="1" dirty="0" err="1">
                <a:latin typeface="+mj-lt"/>
                <a:ea typeface="Calibri"/>
                <a:cs typeface="Calibri"/>
              </a:rPr>
              <a:t>Interfaz</a:t>
            </a:r>
            <a:r>
              <a:rPr lang="en-US" sz="2000" b="1" dirty="0">
                <a:latin typeface="+mj-lt"/>
                <a:ea typeface="Calibri"/>
                <a:cs typeface="Calibri"/>
              </a:rPr>
              <a:t> de </a:t>
            </a:r>
            <a:r>
              <a:rPr lang="en-US" sz="2000" b="1" dirty="0" err="1">
                <a:latin typeface="+mj-lt"/>
                <a:ea typeface="Calibri"/>
                <a:cs typeface="Calibri"/>
              </a:rPr>
              <a:t>usuario</a:t>
            </a:r>
            <a:endParaRPr lang="es-ES" sz="2000" b="1" dirty="0" err="1">
              <a:latin typeface="+mj-lt"/>
            </a:endParaRPr>
          </a:p>
          <a:p>
            <a:pPr>
              <a:spcBef>
                <a:spcPct val="20000"/>
              </a:spcBef>
            </a:pPr>
            <a:endParaRPr lang="en-US" sz="2000" dirty="0">
              <a:latin typeface="+mj-lt"/>
              <a:ea typeface="Calibri"/>
              <a:cs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</a:rPr>
              <a:t>- HTML: </a:t>
            </a:r>
            <a:r>
              <a:rPr lang="en-US" sz="2000" dirty="0" err="1">
                <a:latin typeface="+mj-lt"/>
                <a:ea typeface="Calibri"/>
                <a:cs typeface="Calibri"/>
              </a:rPr>
              <a:t>estructura</a:t>
            </a:r>
            <a:endParaRPr lang="en-US" sz="2000" dirty="0">
              <a:latin typeface="+mj-lt"/>
              <a:ea typeface="Calibri"/>
              <a:cs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</a:rPr>
              <a:t>- CSS: </a:t>
            </a:r>
            <a:r>
              <a:rPr lang="en-US" sz="2000" dirty="0" err="1">
                <a:latin typeface="+mj-lt"/>
                <a:ea typeface="Calibri"/>
                <a:cs typeface="Calibri"/>
              </a:rPr>
              <a:t>estilo</a:t>
            </a:r>
            <a:endParaRPr lang="en-US" sz="2000" dirty="0">
              <a:latin typeface="+mj-lt"/>
              <a:ea typeface="Calibri"/>
              <a:cs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</a:rPr>
              <a:t>- JS: </a:t>
            </a:r>
            <a:r>
              <a:rPr lang="en-US" sz="2000" dirty="0" err="1">
                <a:latin typeface="+mj-lt"/>
                <a:ea typeface="Calibri"/>
                <a:cs typeface="Calibri"/>
              </a:rPr>
              <a:t>lógica</a:t>
            </a:r>
            <a:r>
              <a:rPr lang="en-US" sz="2000" dirty="0">
                <a:latin typeface="+mj-lt"/>
                <a:ea typeface="Calibri"/>
                <a:cs typeface="Calibri"/>
              </a:rPr>
              <a:t> y </a:t>
            </a:r>
            <a:r>
              <a:rPr lang="en-US" sz="2000" dirty="0" err="1">
                <a:latin typeface="+mj-lt"/>
                <a:ea typeface="Calibri"/>
                <a:cs typeface="Calibri"/>
              </a:rPr>
              <a:t>dinámica</a:t>
            </a:r>
            <a:endParaRPr lang="es-ES" sz="2000" dirty="0" err="1"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84463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7"/>
          <p:cNvSpPr txBox="1">
            <a:spLocks noGrp="1"/>
          </p:cNvSpPr>
          <p:nvPr>
            <p:ph type="body" idx="1"/>
          </p:nvPr>
        </p:nvSpPr>
        <p:spPr>
          <a:xfrm>
            <a:off x="385481" y="559760"/>
            <a:ext cx="2835030" cy="78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/>
          <a:p>
            <a:pPr marL="0" lvl="0" indent="0" algn="l" rtl="0">
              <a:lnSpc>
                <a:spcPct val="1221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5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lang="en-US" sz="52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267" name="Google Shape;267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481" y="597090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7"/>
          <p:cNvSpPr txBox="1"/>
          <p:nvPr/>
        </p:nvSpPr>
        <p:spPr>
          <a:xfrm>
            <a:off x="554637" y="1597847"/>
            <a:ext cx="4746341" cy="411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O" sz="1800" dirty="0"/>
              <a:t>El </a:t>
            </a:r>
            <a:r>
              <a:rPr lang="es-CO" sz="1800" dirty="0" err="1"/>
              <a:t>backend</a:t>
            </a:r>
            <a:r>
              <a:rPr lang="es-CO" sz="1800" dirty="0"/>
              <a:t> de una aplicación web, a veces llamado "lado del servidor", es la parte que se encarga de la lógica de negocio, la gestión de datos, la comunicación con la base </a:t>
            </a:r>
            <a:r>
              <a:rPr lang="es-CO" sz="1800" dirty="0">
                <a:sym typeface="Calibri"/>
              </a:rPr>
              <a:t>de datos y la infraestructura de la aplicación que no es visible para el usuario. En resumen, el </a:t>
            </a:r>
            <a:r>
              <a:rPr lang="es-CO" sz="1800" dirty="0" err="1">
                <a:sym typeface="Calibri"/>
              </a:rPr>
              <a:t>backend</a:t>
            </a:r>
            <a:r>
              <a:rPr lang="es-CO" sz="1800" dirty="0">
                <a:sym typeface="Calibri"/>
              </a:rPr>
              <a:t> maneja todo lo que ocurre detrás de escena para que la aplicación funcione correctamente. </a:t>
            </a:r>
            <a:endParaRPr lang="en-US" sz="1800" dirty="0"/>
          </a:p>
          <a:p>
            <a:pPr marL="0" marR="0" lvl="0" indent="0" algn="l">
              <a:lnSpc>
                <a:spcPct val="12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n 1" descr="QUÉ ES FRONTEND Y BACKEND?">
            <a:extLst>
              <a:ext uri="{FF2B5EF4-FFF2-40B4-BE49-F238E27FC236}">
                <a16:creationId xmlns:a16="http://schemas.microsoft.com/office/drawing/2014/main" id="{3AD04ACD-B080-580E-A34F-8D91C19A1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798" y="1707127"/>
            <a:ext cx="6102145" cy="35394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D1EABEEC-EB1B-D1F5-B5B1-C9B98BD5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7">
            <a:extLst>
              <a:ext uri="{FF2B5EF4-FFF2-40B4-BE49-F238E27FC236}">
                <a16:creationId xmlns:a16="http://schemas.microsoft.com/office/drawing/2014/main" id="{FFD58245-BC4D-133F-5688-E28300F90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481" y="559760"/>
            <a:ext cx="2835030" cy="78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/>
          <a:p>
            <a:pPr marL="0" lvl="0" indent="0" algn="l" rtl="0">
              <a:lnSpc>
                <a:spcPct val="1221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5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lang="en-US" sz="52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267" name="Google Shape;267;p57">
            <a:extLst>
              <a:ext uri="{FF2B5EF4-FFF2-40B4-BE49-F238E27FC236}">
                <a16:creationId xmlns:a16="http://schemas.microsoft.com/office/drawing/2014/main" id="{CC6B61F0-CE01-1BC6-1780-3E1A464E1C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481" y="597090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7">
            <a:extLst>
              <a:ext uri="{FF2B5EF4-FFF2-40B4-BE49-F238E27FC236}">
                <a16:creationId xmlns:a16="http://schemas.microsoft.com/office/drawing/2014/main" id="{EC6E3976-BC26-1BEC-54FA-C35E22634D09}"/>
              </a:ext>
            </a:extLst>
          </p:cNvPr>
          <p:cNvSpPr txBox="1"/>
          <p:nvPr/>
        </p:nvSpPr>
        <p:spPr>
          <a:xfrm>
            <a:off x="797709" y="1339760"/>
            <a:ext cx="10090527" cy="517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s-CO" sz="1800" dirty="0">
                <a:latin typeface="+mn-lt"/>
                <a:ea typeface="Cambria"/>
              </a:rPr>
              <a:t>El </a:t>
            </a:r>
            <a:r>
              <a:rPr lang="es-CO" sz="1800" dirty="0" err="1">
                <a:latin typeface="+mn-lt"/>
                <a:ea typeface="Cambria"/>
              </a:rPr>
              <a:t>backend</a:t>
            </a:r>
            <a:r>
              <a:rPr lang="es-CO" sz="1800" dirty="0">
                <a:latin typeface="+mn-lt"/>
                <a:ea typeface="Cambria"/>
              </a:rPr>
              <a:t> realiza las siguientes funciones: </a:t>
            </a: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</a:rPr>
              <a:t>Lógica de negocio:</a:t>
            </a:r>
            <a:r>
              <a:rPr lang="es-CO" sz="1800" dirty="0">
                <a:latin typeface="+mn-lt"/>
                <a:ea typeface="Cambria"/>
              </a:rPr>
              <a:t> Implementa las reglas y procesos que la aplicación sigue para funcionar. </a:t>
            </a: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</a:rPr>
              <a:t>Gestión de datos:</a:t>
            </a:r>
            <a:r>
              <a:rPr lang="es-CO" sz="1800" dirty="0">
                <a:latin typeface="+mn-lt"/>
                <a:ea typeface="Cambria"/>
              </a:rPr>
              <a:t> Almacena y gestiona la información de la aplicación en bases de datos. </a:t>
            </a: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</a:rPr>
              <a:t>Comunicación con la base </a:t>
            </a:r>
            <a:r>
              <a:rPr lang="es-CO" sz="1800" b="1" dirty="0">
                <a:latin typeface="+mn-lt"/>
                <a:ea typeface="Cambria"/>
                <a:sym typeface="Calibri"/>
              </a:rPr>
              <a:t>de datos:</a:t>
            </a:r>
            <a:r>
              <a:rPr lang="es-CO" sz="1800" dirty="0">
                <a:latin typeface="+mn-lt"/>
                <a:ea typeface="Cambria"/>
                <a:sym typeface="Calibri"/>
              </a:rPr>
              <a:t> Recupera y modifica datos cuando la aplicación lo requiere. </a:t>
            </a:r>
            <a:endParaRPr lang="es-CO" sz="1800" dirty="0">
              <a:latin typeface="+mn-lt"/>
              <a:ea typeface="Cambria"/>
            </a:endParaRP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  <a:sym typeface="Calibri"/>
              </a:rPr>
              <a:t>Infraestructura:</a:t>
            </a:r>
            <a:r>
              <a:rPr lang="es-CO" sz="1800" dirty="0">
                <a:latin typeface="+mn-lt"/>
                <a:ea typeface="Cambria"/>
                <a:sym typeface="Calibri"/>
              </a:rPr>
              <a:t> Se asegura de que la aplicación esté alojada en un servidor y que funcione correctamente, incluyendo la gestión de servidores, seguridad y sistemas operativos. </a:t>
            </a:r>
            <a:endParaRPr lang="es-CO" sz="1800" dirty="0">
              <a:latin typeface="+mn-lt"/>
              <a:ea typeface="Cambria"/>
            </a:endParaRP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  <a:sym typeface="Calibri"/>
              </a:rPr>
              <a:t>API (</a:t>
            </a:r>
            <a:r>
              <a:rPr lang="es-CO" sz="1800" b="1" dirty="0" err="1">
                <a:latin typeface="+mn-lt"/>
                <a:ea typeface="Cambria"/>
                <a:sym typeface="Calibri"/>
              </a:rPr>
              <a:t>Application</a:t>
            </a:r>
            <a:r>
              <a:rPr lang="es-CO" sz="1800" b="1" dirty="0">
                <a:latin typeface="+mn-lt"/>
                <a:ea typeface="Cambria"/>
                <a:sym typeface="Calibri"/>
              </a:rPr>
              <a:t> </a:t>
            </a:r>
            <a:r>
              <a:rPr lang="es-CO" sz="1800" b="1" dirty="0" err="1">
                <a:latin typeface="+mn-lt"/>
                <a:ea typeface="Cambria"/>
                <a:sym typeface="Calibri"/>
              </a:rPr>
              <a:t>Programming</a:t>
            </a:r>
            <a:r>
              <a:rPr lang="es-CO" sz="1800" b="1" dirty="0">
                <a:latin typeface="+mn-lt"/>
                <a:ea typeface="Cambria"/>
                <a:sym typeface="Calibri"/>
              </a:rPr>
              <a:t> Interface):</a:t>
            </a:r>
            <a:r>
              <a:rPr lang="es-CO" sz="1800" dirty="0">
                <a:latin typeface="+mn-lt"/>
                <a:ea typeface="Cambria"/>
                <a:sym typeface="Calibri"/>
              </a:rPr>
              <a:t> Proporciona interfaces para que el </a:t>
            </a:r>
            <a:r>
              <a:rPr lang="es-CO" sz="1800" dirty="0" err="1">
                <a:latin typeface="+mn-lt"/>
                <a:ea typeface="Cambria"/>
                <a:sym typeface="Calibri"/>
              </a:rPr>
              <a:t>frontend</a:t>
            </a:r>
            <a:r>
              <a:rPr lang="es-CO" sz="1800" dirty="0">
                <a:latin typeface="+mn-lt"/>
                <a:ea typeface="Cambria"/>
                <a:sym typeface="Calibri"/>
              </a:rPr>
              <a:t> pueda interactuar con el </a:t>
            </a:r>
            <a:r>
              <a:rPr lang="es-CO" sz="1800" dirty="0" err="1">
                <a:latin typeface="+mn-lt"/>
                <a:ea typeface="Cambria"/>
                <a:sym typeface="Calibri"/>
              </a:rPr>
              <a:t>backend</a:t>
            </a:r>
            <a:r>
              <a:rPr lang="es-CO" sz="1800" dirty="0">
                <a:latin typeface="+mn-lt"/>
                <a:ea typeface="Cambria"/>
                <a:sym typeface="Calibri"/>
              </a:rPr>
              <a:t> y viceversa. </a:t>
            </a:r>
            <a:endParaRPr lang="es-CO" sz="1800" dirty="0">
              <a:latin typeface="+mn-lt"/>
              <a:ea typeface="Cambria"/>
            </a:endParaRPr>
          </a:p>
          <a:p>
            <a:pPr algn="just"/>
            <a:endParaRPr lang="es-CO" sz="1800" dirty="0">
              <a:latin typeface="+mn-lt"/>
              <a:ea typeface="Cambria"/>
            </a:endParaRPr>
          </a:p>
          <a:p>
            <a:pPr marL="285750" indent="-285750" algn="just">
              <a:buFont typeface="Symbol"/>
              <a:buChar char="•"/>
            </a:pPr>
            <a:r>
              <a:rPr lang="es-CO" sz="1800" b="1" dirty="0">
                <a:latin typeface="+mn-lt"/>
                <a:ea typeface="Cambria"/>
                <a:sym typeface="Calibri"/>
              </a:rPr>
              <a:t>Seguridad:</a:t>
            </a:r>
            <a:r>
              <a:rPr lang="es-CO" sz="1800" dirty="0">
                <a:latin typeface="+mn-lt"/>
                <a:ea typeface="Cambria"/>
                <a:sym typeface="Calibri"/>
              </a:rPr>
              <a:t> Implementa mecanismos para proteger los datos y la aplicación de amenazas</a:t>
            </a:r>
            <a:endParaRPr lang="es-CO" sz="1800" dirty="0">
              <a:latin typeface="+mn-lt"/>
              <a:ea typeface="Cambria"/>
            </a:endParaRPr>
          </a:p>
          <a:p>
            <a:pPr algn="just">
              <a:lnSpc>
                <a:spcPct val="150000"/>
              </a:lnSpc>
            </a:pPr>
            <a:endParaRPr lang="es-CO" sz="1600" dirty="0"/>
          </a:p>
          <a:p>
            <a:pPr marL="0" marR="0" lvl="0" indent="0" algn="l">
              <a:lnSpc>
                <a:spcPct val="12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4253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11BFBDD9-76CD-DE20-E651-E0AF893E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Qué es el Desarrollo Front end, Back end y Fullstack? | by Ken Ruiz Inoue |  Medium">
            <a:extLst>
              <a:ext uri="{FF2B5EF4-FFF2-40B4-BE49-F238E27FC236}">
                <a16:creationId xmlns:a16="http://schemas.microsoft.com/office/drawing/2014/main" id="{DDFCDECF-3830-66EA-047E-795D65014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109" y="3550675"/>
            <a:ext cx="5846814" cy="3185651"/>
          </a:xfrm>
          <a:prstGeom prst="rect">
            <a:avLst/>
          </a:prstGeom>
        </p:spPr>
      </p:pic>
      <p:sp>
        <p:nvSpPr>
          <p:cNvPr id="266" name="Google Shape;266;p57">
            <a:extLst>
              <a:ext uri="{FF2B5EF4-FFF2-40B4-BE49-F238E27FC236}">
                <a16:creationId xmlns:a16="http://schemas.microsoft.com/office/drawing/2014/main" id="{32622453-62A9-A7F2-5420-A27A90090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481" y="559760"/>
            <a:ext cx="2835030" cy="78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/>
          <a:p>
            <a:pPr marL="0" lvl="0" indent="0" algn="l" rtl="0">
              <a:lnSpc>
                <a:spcPct val="1221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5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lang="en-US" sz="52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267" name="Google Shape;267;p57">
            <a:extLst>
              <a:ext uri="{FF2B5EF4-FFF2-40B4-BE49-F238E27FC236}">
                <a16:creationId xmlns:a16="http://schemas.microsoft.com/office/drawing/2014/main" id="{6211A50F-373D-7C88-6239-525825497E6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481" y="597090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7">
            <a:extLst>
              <a:ext uri="{FF2B5EF4-FFF2-40B4-BE49-F238E27FC236}">
                <a16:creationId xmlns:a16="http://schemas.microsoft.com/office/drawing/2014/main" id="{FAAF3A57-37DB-9662-4BE5-E075C0532A24}"/>
              </a:ext>
            </a:extLst>
          </p:cNvPr>
          <p:cNvSpPr txBox="1"/>
          <p:nvPr/>
        </p:nvSpPr>
        <p:spPr>
          <a:xfrm>
            <a:off x="388865" y="1443859"/>
            <a:ext cx="7939721" cy="2591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latin typeface="+mj-lt"/>
                <a:ea typeface="Calibri"/>
                <a:cs typeface="Calibri"/>
              </a:rPr>
              <a:t>-</a:t>
            </a:r>
            <a:r>
              <a:rPr lang="en-US" sz="2000" b="1" dirty="0" err="1">
                <a:latin typeface="+mj-lt"/>
                <a:ea typeface="Calibri"/>
                <a:cs typeface="Calibri"/>
              </a:rPr>
              <a:t>Lógica</a:t>
            </a:r>
            <a:r>
              <a:rPr lang="en-US" sz="2000" b="1" dirty="0">
                <a:latin typeface="+mj-lt"/>
                <a:ea typeface="Calibri"/>
                <a:cs typeface="Calibri"/>
              </a:rPr>
              <a:t> del </a:t>
            </a:r>
            <a:r>
              <a:rPr lang="en-US" sz="2000" b="1" dirty="0" err="1">
                <a:latin typeface="+mj-lt"/>
                <a:ea typeface="Calibri"/>
                <a:cs typeface="Calibri"/>
              </a:rPr>
              <a:t>negocio</a:t>
            </a:r>
            <a:endParaRPr lang="es-ES" sz="2000" b="1" dirty="0" err="1">
              <a:latin typeface="+mj-lt"/>
            </a:endParaRPr>
          </a:p>
          <a:p>
            <a:pPr marL="914400" lvl="2">
              <a:spcBef>
                <a:spcPct val="20000"/>
              </a:spcBef>
            </a:pPr>
            <a:endParaRPr lang="es-ES" sz="2000" dirty="0" err="1">
              <a:latin typeface="+mj-lt"/>
              <a:ea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</a:rPr>
              <a:t>- Procesamiento de </a:t>
            </a:r>
            <a:r>
              <a:rPr lang="en-US" sz="2000" dirty="0" err="1">
                <a:latin typeface="+mj-lt"/>
                <a:ea typeface="Calibri"/>
                <a:cs typeface="Calibri"/>
              </a:rPr>
              <a:t>datos</a:t>
            </a:r>
            <a:endParaRPr lang="en-US" sz="2000" dirty="0">
              <a:latin typeface="+mj-lt"/>
              <a:ea typeface="Calibri"/>
              <a:cs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</a:rPr>
              <a:t>- Seguridad </a:t>
            </a:r>
            <a:r>
              <a:rPr lang="en-US" sz="2000" dirty="0">
                <a:latin typeface="+mj-lt"/>
                <a:ea typeface="Calibri"/>
                <a:cs typeface="Calibri"/>
                <a:sym typeface="Calibri"/>
              </a:rPr>
              <a:t>y </a:t>
            </a:r>
            <a:r>
              <a:rPr lang="en-US" sz="2000" dirty="0" err="1">
                <a:latin typeface="+mj-lt"/>
                <a:ea typeface="Calibri"/>
                <a:cs typeface="Calibri"/>
                <a:sym typeface="Calibri"/>
              </a:rPr>
              <a:t>autenticación</a:t>
            </a:r>
            <a:endParaRPr lang="en-US" sz="2000" dirty="0">
              <a:latin typeface="+mj-lt"/>
              <a:ea typeface="Calibri"/>
              <a:cs typeface="Calibri"/>
            </a:endParaRPr>
          </a:p>
          <a:p>
            <a:pPr marL="914400" lvl="2">
              <a:spcBef>
                <a:spcPct val="20000"/>
              </a:spcBef>
            </a:pPr>
            <a:r>
              <a:rPr lang="en-US" sz="2000" dirty="0">
                <a:latin typeface="+mj-lt"/>
                <a:ea typeface="Calibri"/>
                <a:cs typeface="Calibri"/>
                <a:sym typeface="Calibri"/>
              </a:rPr>
              <a:t>- Frameworks: Django, Express, Spring</a:t>
            </a:r>
            <a:endParaRPr lang="es-CO" sz="2000" dirty="0"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s-CO" sz="1600" dirty="0"/>
          </a:p>
          <a:p>
            <a:pPr marL="0" marR="0" lvl="0" indent="0" algn="l">
              <a:lnSpc>
                <a:spcPct val="12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6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/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/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Hosting</a:t>
            </a:r>
            <a:endParaRPr dirty="0"/>
          </a:p>
        </p:txBody>
      </p:sp>
      <p:pic>
        <p:nvPicPr>
          <p:cNvPr id="279" name="Google Shape;279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/>
          <p:cNvSpPr txBox="1"/>
          <p:nvPr/>
        </p:nvSpPr>
        <p:spPr>
          <a:xfrm>
            <a:off x="6342357" y="1905857"/>
            <a:ext cx="5128444" cy="262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22300"/>
              </a:lnSpc>
            </a:pPr>
            <a:r>
              <a:rPr lang="es-CO" sz="2000" dirty="0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Un hosting es un servicio que permite publicar aplicaciones en la web para que estén disponibles 24/7. En esta etapa, recomendamos usar servicios como Render.com o </a:t>
            </a:r>
            <a:r>
              <a:rPr lang="es-CO" sz="2000" dirty="0" err="1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Railway</a:t>
            </a:r>
            <a:r>
              <a:rPr lang="es-CO" sz="2000" dirty="0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 para desplegar aplicaciones con </a:t>
            </a:r>
            <a:r>
              <a:rPr lang="es-CO" sz="2000" dirty="0" err="1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backend</a:t>
            </a:r>
            <a:r>
              <a:rPr lang="es-CO" sz="2000" dirty="0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 y </a:t>
            </a:r>
            <a:r>
              <a:rPr lang="es-CO" sz="2000" dirty="0" err="1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frontend</a:t>
            </a:r>
            <a:r>
              <a:rPr lang="es-CO" sz="2000" dirty="0">
                <a:solidFill>
                  <a:srgbClr val="7030A0"/>
                </a:solidFill>
                <a:latin typeface="+mj-lt"/>
                <a:ea typeface="Cambria"/>
                <a:cs typeface="Candara"/>
                <a:sym typeface="Candara"/>
              </a:rPr>
              <a:t> integrados sin complicaciones.</a:t>
            </a:r>
            <a:endParaRPr lang="es-ES" sz="2000" dirty="0">
              <a:latin typeface="+mj-lt"/>
            </a:endParaRPr>
          </a:p>
        </p:txBody>
      </p:sp>
      <p:pic>
        <p:nvPicPr>
          <p:cNvPr id="2" name="Imagen 1" descr="Qué es el web hosting?">
            <a:extLst>
              <a:ext uri="{FF2B5EF4-FFF2-40B4-BE49-F238E27FC236}">
                <a16:creationId xmlns:a16="http://schemas.microsoft.com/office/drawing/2014/main" id="{47A6EF8E-2D8E-3392-CD29-AF0EA2EA2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40" y="1711887"/>
            <a:ext cx="5128444" cy="30163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70533820-0FD9-3BB3-F480-0B32A4E0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0EA0B5F2-7D89-056D-45F5-573B80C7AF31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2EE4FD72-3077-7A22-FB54-B1666DBF1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Hosting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D0FBECD0-6EE3-4934-E659-6C763EDA92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>
            <a:extLst>
              <a:ext uri="{FF2B5EF4-FFF2-40B4-BE49-F238E27FC236}">
                <a16:creationId xmlns:a16="http://schemas.microsoft.com/office/drawing/2014/main" id="{A55B3B12-676B-C6FA-B285-AF445E31F6B9}"/>
              </a:ext>
            </a:extLst>
          </p:cNvPr>
          <p:cNvSpPr txBox="1"/>
          <p:nvPr/>
        </p:nvSpPr>
        <p:spPr>
          <a:xfrm>
            <a:off x="5092571" y="1605561"/>
            <a:ext cx="6494294" cy="4205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s-CO" sz="2400" dirty="0">
                <a:solidFill>
                  <a:srgbClr val="7030A0"/>
                </a:solidFill>
                <a:ea typeface="Cambria"/>
                <a:sym typeface="Candara"/>
              </a:rPr>
              <a:t>Conceptos clave: </a:t>
            </a:r>
            <a:endParaRPr lang="es-ES" dirty="0">
              <a:sym typeface="Candara"/>
            </a:endParaRPr>
          </a:p>
          <a:p>
            <a:pPr algn="just"/>
            <a:endParaRPr lang="es-CO" sz="2400" dirty="0">
              <a:solidFill>
                <a:srgbClr val="7030A0"/>
              </a:solidFill>
              <a:ea typeface="Cambria"/>
              <a:sym typeface="Candara"/>
            </a:endParaRPr>
          </a:p>
          <a:p>
            <a:pPr marL="285750" indent="-285750"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Alojamiento web: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Es el servicio de hosting en sí. </a:t>
            </a:r>
            <a:endParaRPr lang="es-CO" sz="2000" dirty="0"/>
          </a:p>
          <a:p>
            <a:pPr marL="285750" indent="-285750" algn="just">
              <a:buChar char="•"/>
            </a:pPr>
            <a:endParaRPr lang="es-CO" sz="1200" dirty="0"/>
          </a:p>
          <a:p>
            <a:pPr marL="285750" indent="-285750"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Servidor: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Un ordenador potente que almacena los archivos de tu sitio web. </a:t>
            </a:r>
            <a:endParaRPr lang="es-CO" sz="2000" dirty="0"/>
          </a:p>
          <a:p>
            <a:pPr marL="285750" indent="-285750" algn="just">
              <a:buChar char="•"/>
            </a:pPr>
            <a:endParaRPr lang="es-CO" sz="1200" dirty="0"/>
          </a:p>
          <a:p>
            <a:pPr marL="285750" indent="-285750"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Archivos de tu sitio web: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Incluyen las páginas HTML, imágenes, CSS, scripts y bases de datos. </a:t>
            </a:r>
            <a:endParaRPr lang="es-CO" sz="2000" dirty="0"/>
          </a:p>
          <a:p>
            <a:pPr marL="285750" indent="-285750" algn="just">
              <a:buChar char="•"/>
            </a:pPr>
            <a:endParaRPr lang="es-CO" sz="1200" dirty="0"/>
          </a:p>
          <a:p>
            <a:pPr marL="285750" indent="-285750"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Acceso a Internet: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Cuando alguien visita tu sitio web, su navegador busca la información en el servidor de hosting</a:t>
            </a:r>
            <a:endParaRPr lang="es-CO" sz="2000" dirty="0">
              <a:sym typeface="Candara"/>
            </a:endParaRPr>
          </a:p>
          <a:p>
            <a:pPr algn="just">
              <a:lnSpc>
                <a:spcPct val="122300"/>
              </a:lnSpc>
            </a:pPr>
            <a:endParaRPr lang="es-CO" sz="2400" dirty="0">
              <a:solidFill>
                <a:srgbClr val="7030A0"/>
              </a:solidFill>
              <a:latin typeface="Cambria"/>
              <a:ea typeface="Cambria"/>
            </a:endParaRPr>
          </a:p>
        </p:txBody>
      </p:sp>
      <p:pic>
        <p:nvPicPr>
          <p:cNvPr id="3" name="Imagen 2" descr="Qué es un hosting? ¿Qué tipos de hosting hay? Dudas frecuentes">
            <a:extLst>
              <a:ext uri="{FF2B5EF4-FFF2-40B4-BE49-F238E27FC236}">
                <a16:creationId xmlns:a16="http://schemas.microsoft.com/office/drawing/2014/main" id="{E95F1859-1E57-2DED-9CC5-21405CBA3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11" y="1608803"/>
            <a:ext cx="4307758" cy="24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66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A07370A2-7EE6-73F0-4085-7CD06987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22280850-8A61-E917-ED5C-40CE24F0ECE7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BDFE7BFD-7487-3C5B-DDA5-A77642C26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Hosting - </a:t>
            </a:r>
            <a:r>
              <a:rPr lang="en-US" dirty="0" err="1"/>
              <a:t>tipos</a:t>
            </a:r>
            <a:endParaRPr dirty="0" err="1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941D0919-FA6F-1D15-5448-71D8DF4EB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>
            <a:extLst>
              <a:ext uri="{FF2B5EF4-FFF2-40B4-BE49-F238E27FC236}">
                <a16:creationId xmlns:a16="http://schemas.microsoft.com/office/drawing/2014/main" id="{A4FC310A-D632-19DD-34D6-72AB1B6F608E}"/>
              </a:ext>
            </a:extLst>
          </p:cNvPr>
          <p:cNvSpPr txBox="1"/>
          <p:nvPr/>
        </p:nvSpPr>
        <p:spPr>
          <a:xfrm>
            <a:off x="1036765" y="1605561"/>
            <a:ext cx="10550100" cy="497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Hosting compartido: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</a:t>
            </a:r>
            <a:endParaRPr lang="es-CO" sz="2000" dirty="0">
              <a:ea typeface="Cambria"/>
              <a:sym typeface="Candara"/>
            </a:endParaRPr>
          </a:p>
          <a:p>
            <a:pPr algn="just"/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Se aloja en un servidor compartido con otros sitios web, lo que suele ser más económico. </a:t>
            </a:r>
            <a:endParaRPr lang="es-CO" dirty="0"/>
          </a:p>
          <a:p>
            <a:pPr algn="just"/>
            <a:endParaRPr lang="es-CO" sz="2000" dirty="0">
              <a:solidFill>
                <a:srgbClr val="7030A0"/>
              </a:solidFill>
              <a:ea typeface="Cambria"/>
            </a:endParaRPr>
          </a:p>
          <a:p>
            <a:pPr algn="just">
              <a:buChar char="•"/>
            </a:pPr>
            <a:r>
              <a:rPr lang="es-CO" sz="2000" b="1" dirty="0">
                <a:solidFill>
                  <a:srgbClr val="7030A0"/>
                </a:solidFill>
              </a:rPr>
              <a:t>Hosting VPS (Virtual </a:t>
            </a:r>
            <a:r>
              <a:rPr lang="es-CO" sz="2000" b="1" dirty="0" err="1">
                <a:solidFill>
                  <a:srgbClr val="7030A0"/>
                </a:solidFill>
              </a:rPr>
              <a:t>Private</a:t>
            </a:r>
            <a:r>
              <a:rPr lang="es-CO" sz="2000" b="1" dirty="0">
                <a:solidFill>
                  <a:srgbClr val="7030A0"/>
                </a:solidFill>
              </a:rPr>
              <a:t> Server):</a:t>
            </a:r>
            <a:r>
              <a:rPr lang="es-CO" sz="2000" dirty="0">
                <a:solidFill>
                  <a:srgbClr val="7030A0"/>
                </a:solidFill>
              </a:rPr>
              <a:t> </a:t>
            </a:r>
            <a:endParaRPr lang="es-CO" dirty="0"/>
          </a:p>
          <a:p>
            <a:pPr algn="just"/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Divide un servidor físico en varios virtuales, ofreciendo más control y recursos. </a:t>
            </a:r>
            <a:endParaRPr lang="es-CO" dirty="0"/>
          </a:p>
          <a:p>
            <a:pPr algn="just"/>
            <a:endParaRPr lang="es-CO" sz="2000" dirty="0">
              <a:solidFill>
                <a:srgbClr val="7030A0"/>
              </a:solidFill>
              <a:ea typeface="Cambria"/>
            </a:endParaRPr>
          </a:p>
          <a:p>
            <a:pPr algn="just">
              <a:buChar char="•"/>
            </a:pPr>
            <a:r>
              <a:rPr lang="es-CO" sz="2000" b="1" dirty="0">
                <a:solidFill>
                  <a:srgbClr val="7030A0"/>
                </a:solidFill>
              </a:rPr>
              <a:t>Hosting dedicado:</a:t>
            </a:r>
            <a:r>
              <a:rPr lang="es-CO" sz="2000" dirty="0">
                <a:solidFill>
                  <a:srgbClr val="7030A0"/>
                </a:solidFill>
              </a:rPr>
              <a:t> </a:t>
            </a:r>
            <a:endParaRPr lang="es-CO" dirty="0"/>
          </a:p>
          <a:p>
            <a:pPr algn="just"/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Utiliza un servidor físico exclusivo para tu sitio web, con mayor rendimiento y control.</a:t>
            </a:r>
            <a:endParaRPr lang="es-CO" dirty="0">
              <a:ea typeface="Cambria"/>
              <a:sym typeface="Candara"/>
            </a:endParaRPr>
          </a:p>
          <a:p>
            <a:pPr algn="just"/>
            <a:endParaRPr lang="es-CO" dirty="0"/>
          </a:p>
          <a:p>
            <a:pPr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Hosting en la nube: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</a:t>
            </a:r>
            <a:endParaRPr lang="es-CO" dirty="0"/>
          </a:p>
          <a:p>
            <a:pPr algn="just"/>
            <a:r>
              <a:rPr lang="es-CO" sz="2000" dirty="0">
                <a:solidFill>
                  <a:srgbClr val="7030A0"/>
                </a:solidFill>
              </a:rPr>
              <a:t>Distribuye los recursos en múltiples servidores virtuales, aumentando la fiabilidad y 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escalabilidad. </a:t>
            </a:r>
            <a:endParaRPr lang="es-CO" dirty="0"/>
          </a:p>
          <a:p>
            <a:pPr algn="just"/>
            <a:endParaRPr lang="es-CO" sz="2000" dirty="0">
              <a:solidFill>
                <a:srgbClr val="7030A0"/>
              </a:solidFill>
              <a:ea typeface="Cambria"/>
            </a:endParaRPr>
          </a:p>
          <a:p>
            <a:pPr algn="just">
              <a:buChar char="•"/>
            </a:pPr>
            <a:r>
              <a:rPr lang="es-CO" sz="2000" b="1" dirty="0">
                <a:solidFill>
                  <a:srgbClr val="7030A0"/>
                </a:solidFill>
                <a:ea typeface="Cambria"/>
                <a:sym typeface="Candara"/>
              </a:rPr>
              <a:t>Hosting de WordPress administrado:</a:t>
            </a:r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 </a:t>
            </a:r>
            <a:endParaRPr lang="es-CO" dirty="0">
              <a:sym typeface="Candara"/>
            </a:endParaRPr>
          </a:p>
          <a:p>
            <a:pPr algn="just"/>
            <a:r>
              <a:rPr lang="es-CO" sz="2000" dirty="0">
                <a:solidFill>
                  <a:srgbClr val="7030A0"/>
                </a:solidFill>
                <a:ea typeface="Cambria"/>
                <a:sym typeface="Candara"/>
              </a:rPr>
              <a:t>Optimizado para WordPress, con herramientas de gestión y seguridad</a:t>
            </a:r>
            <a:endParaRPr lang="es-CO" dirty="0"/>
          </a:p>
          <a:p>
            <a:pPr algn="just">
              <a:lnSpc>
                <a:spcPct val="122300"/>
              </a:lnSpc>
            </a:pPr>
            <a:endParaRPr lang="es-CO" sz="2400" dirty="0">
              <a:solidFill>
                <a:srgbClr val="7030A0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12558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1"/>
          <p:cNvSpPr txBox="1"/>
          <p:nvPr/>
        </p:nvSpPr>
        <p:spPr>
          <a:xfrm rot="5400000">
            <a:off x="8938029" y="2488115"/>
            <a:ext cx="4354538" cy="153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725" rIns="0" bIns="0" anchor="t" anchorCtr="0">
            <a:spAutoFit/>
          </a:bodyPr>
          <a:lstStyle/>
          <a:p>
            <a:pPr marL="12700">
              <a:lnSpc>
                <a:spcPct val="100638"/>
              </a:lnSpc>
            </a:pPr>
            <a:r>
              <a:rPr lang="en-US" sz="3100" b="1" dirty="0">
                <a:solidFill>
                  <a:srgbClr val="424242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 Desarrollo</a:t>
            </a:r>
            <a:endParaRPr lang="en-US" sz="3100" b="1" dirty="0" err="1">
              <a:solidFill>
                <a:srgbClr val="424242"/>
              </a:solidFill>
              <a:latin typeface="Trebuchet MS"/>
              <a:ea typeface="Trebuchet MS"/>
              <a:cs typeface="Trebuchet MS"/>
            </a:endParaRPr>
          </a:p>
          <a:p>
            <a:pPr marL="12700">
              <a:lnSpc>
                <a:spcPct val="100638"/>
              </a:lnSpc>
            </a:pPr>
            <a:endParaRPr lang="en-US" sz="3100" b="1" dirty="0">
              <a:solidFill>
                <a:srgbClr val="42424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00638"/>
              </a:lnSpc>
            </a:pPr>
            <a:r>
              <a:rPr lang="en-US" sz="3100" b="1" dirty="0">
                <a:solidFill>
                  <a:srgbClr val="424242"/>
                </a:solidFill>
                <a:latin typeface="Trebuchet MS"/>
                <a:ea typeface="Trebuchet MS"/>
                <a:cs typeface="Trebuchet MS"/>
                <a:sym typeface="Trebuchet MS"/>
              </a:rPr>
              <a:t>Web App</a:t>
            </a:r>
            <a:endParaRPr lang="en-US" sz="3100" b="1" dirty="0">
              <a:solidFill>
                <a:srgbClr val="424242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41D1B75-07D0-C972-7B3D-A10666760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E0723369-B6A9-6DC7-B47C-1A8E1D67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1">
            <a:extLst>
              <a:ext uri="{FF2B5EF4-FFF2-40B4-BE49-F238E27FC236}">
                <a16:creationId xmlns:a16="http://schemas.microsoft.com/office/drawing/2014/main" id="{22441A52-6DB6-0C4D-9F6C-29057DBFD250}"/>
              </a:ext>
            </a:extLst>
          </p:cNvPr>
          <p:cNvSpPr txBox="1"/>
          <p:nvPr/>
        </p:nvSpPr>
        <p:spPr>
          <a:xfrm rot="5400000">
            <a:off x="8938029" y="2488115"/>
            <a:ext cx="4354538" cy="153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725" rIns="0" bIns="0" anchor="t" anchorCtr="0">
            <a:spAutoFit/>
          </a:bodyPr>
          <a:lstStyle/>
          <a:p>
            <a:pPr marL="12700">
              <a:lnSpc>
                <a:spcPct val="100638"/>
              </a:lnSpc>
            </a:pPr>
            <a:r>
              <a:rPr lang="en-US" sz="3100" b="1" dirty="0">
                <a:solidFill>
                  <a:srgbClr val="424242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 Desarrollo</a:t>
            </a:r>
            <a:endParaRPr lang="en-US" sz="3100" b="1" dirty="0" err="1">
              <a:solidFill>
                <a:srgbClr val="424242"/>
              </a:solidFill>
              <a:latin typeface="Trebuchet MS"/>
              <a:ea typeface="Trebuchet MS"/>
              <a:cs typeface="Trebuchet MS"/>
            </a:endParaRPr>
          </a:p>
          <a:p>
            <a:pPr marL="12700">
              <a:lnSpc>
                <a:spcPct val="100638"/>
              </a:lnSpc>
            </a:pPr>
            <a:endParaRPr lang="en-US" sz="3100" b="1" dirty="0">
              <a:solidFill>
                <a:srgbClr val="42424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00638"/>
              </a:lnSpc>
            </a:pPr>
            <a:r>
              <a:rPr lang="en-US" sz="3100" b="1" dirty="0">
                <a:solidFill>
                  <a:srgbClr val="424242"/>
                </a:solidFill>
                <a:latin typeface="Trebuchet MS"/>
                <a:ea typeface="Trebuchet MS"/>
                <a:cs typeface="Trebuchet MS"/>
                <a:sym typeface="Trebuchet MS"/>
              </a:rPr>
              <a:t>Web App</a:t>
            </a:r>
            <a:endParaRPr lang="en-US" sz="3100" b="1" dirty="0">
              <a:solidFill>
                <a:srgbClr val="424242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CD004F6-BAF4-9E9A-E9EE-1675AB48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645" y="958645"/>
            <a:ext cx="4953001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97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D3C43831-EA8B-1DC7-3E3D-1B8B11D6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FEB2D2B0-6AE7-A065-6CF6-F8649211BDCB}"/>
              </a:ext>
            </a:extLst>
          </p:cNvPr>
          <p:cNvSpPr txBox="1">
            <a:spLocks/>
          </p:cNvSpPr>
          <p:nvPr/>
        </p:nvSpPr>
        <p:spPr>
          <a:xfrm>
            <a:off x="461943" y="774986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SPA – Single Page Application </a:t>
            </a:r>
            <a:endParaRPr lang="es-ES" b="1"/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(</a:t>
            </a:r>
            <a:r>
              <a:rPr lang="en-US" sz="2400" b="1" err="1">
                <a:solidFill>
                  <a:srgbClr val="1C1711"/>
                </a:solidFill>
              </a:rPr>
              <a:t>Aplicación</a:t>
            </a:r>
            <a:r>
              <a:rPr lang="en-US" sz="2400" b="1" dirty="0">
                <a:solidFill>
                  <a:srgbClr val="1C1711"/>
                </a:solidFill>
              </a:rPr>
              <a:t> de Página </a:t>
            </a:r>
            <a:r>
              <a:rPr lang="en-US" sz="2400" b="1" err="1">
                <a:solidFill>
                  <a:srgbClr val="1C1711"/>
                </a:solidFill>
              </a:rPr>
              <a:t>Única</a:t>
            </a:r>
            <a:r>
              <a:rPr lang="en-US" sz="2400" b="1" dirty="0">
                <a:solidFill>
                  <a:srgbClr val="1C1711"/>
                </a:solidFill>
              </a:rPr>
              <a:t>)</a:t>
            </a:r>
            <a:endParaRPr lang="es-ES" b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3C2589-93CC-4FAC-CBC9-CF5656D8EF09}"/>
              </a:ext>
            </a:extLst>
          </p:cNvPr>
          <p:cNvSpPr txBox="1"/>
          <p:nvPr/>
        </p:nvSpPr>
        <p:spPr>
          <a:xfrm>
            <a:off x="459659" y="1541206"/>
            <a:ext cx="697107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ea typeface="Calibri"/>
              </a:rPr>
              <a:t>Una SPA carga </a:t>
            </a:r>
            <a:r>
              <a:rPr lang="en-US" sz="2000" dirty="0" err="1">
                <a:ea typeface="Calibri"/>
              </a:rPr>
              <a:t>una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única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página</a:t>
            </a:r>
            <a:r>
              <a:rPr lang="en-US" sz="2000" dirty="0">
                <a:ea typeface="Calibri"/>
              </a:rPr>
              <a:t> HTML y </a:t>
            </a:r>
            <a:r>
              <a:rPr lang="en-US" sz="2000" dirty="0" err="1">
                <a:ea typeface="Calibri"/>
              </a:rPr>
              <a:t>actualiza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dinámicamente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contenido</a:t>
            </a:r>
            <a:r>
              <a:rPr lang="en-US" sz="2000" dirty="0">
                <a:ea typeface="Calibri"/>
              </a:rPr>
              <a:t> a </a:t>
            </a:r>
            <a:r>
              <a:rPr lang="en-US" sz="2000" dirty="0" err="1">
                <a:ea typeface="Calibri"/>
              </a:rPr>
              <a:t>medida</a:t>
            </a:r>
            <a:r>
              <a:rPr lang="en-US" sz="2000" dirty="0">
                <a:ea typeface="Calibri"/>
              </a:rPr>
              <a:t> que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usuario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interactúa</a:t>
            </a:r>
            <a:r>
              <a:rPr lang="en-US" sz="2000" dirty="0">
                <a:ea typeface="Calibri"/>
              </a:rPr>
              <a:t>, sin </a:t>
            </a:r>
            <a:r>
              <a:rPr lang="en-US" sz="2000" dirty="0" err="1">
                <a:ea typeface="Calibri"/>
              </a:rPr>
              <a:t>recargar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toda</a:t>
            </a:r>
            <a:r>
              <a:rPr lang="en-US" sz="2000" dirty="0">
                <a:ea typeface="Calibri"/>
              </a:rPr>
              <a:t> la </a:t>
            </a:r>
            <a:r>
              <a:rPr lang="en-US" sz="2000" dirty="0" err="1">
                <a:ea typeface="Calibri"/>
              </a:rPr>
              <a:t>página</a:t>
            </a:r>
            <a:r>
              <a:rPr lang="en-US" sz="2000" dirty="0">
                <a:ea typeface="Calibri"/>
              </a:rPr>
              <a:t>.</a:t>
            </a:r>
            <a:endParaRPr lang="es-ES" sz="2000" dirty="0"/>
          </a:p>
          <a:p>
            <a:endParaRPr lang="en-US" sz="2000" dirty="0">
              <a:ea typeface="Calibri"/>
            </a:endParaRPr>
          </a:p>
          <a:p>
            <a:r>
              <a:rPr lang="en-US" sz="2000" b="1" dirty="0" err="1">
                <a:ea typeface="Calibri"/>
              </a:rPr>
              <a:t>Ejemplos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Gmail, Google Maps, Notion</a:t>
            </a:r>
            <a:endParaRPr lang="en-US" sz="2000" dirty="0"/>
          </a:p>
          <a:p>
            <a:endParaRPr lang="en-US" sz="2000" dirty="0">
              <a:ea typeface="Calibri"/>
            </a:endParaRPr>
          </a:p>
          <a:p>
            <a:r>
              <a:rPr lang="en-US" sz="2000" b="1" dirty="0" err="1">
                <a:ea typeface="Calibri"/>
              </a:rPr>
              <a:t>Ventajas</a:t>
            </a:r>
            <a:r>
              <a:rPr lang="en-US" sz="2000" b="1" dirty="0">
                <a:ea typeface="Calibri"/>
              </a:rPr>
              <a:t>: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 dirty="0" err="1">
                <a:ea typeface="Calibri"/>
              </a:rPr>
              <a:t>Navegación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fluida</a:t>
            </a:r>
            <a:r>
              <a:rPr lang="en-US" sz="2000" dirty="0">
                <a:ea typeface="Calibri"/>
              </a:rPr>
              <a:t> y </a:t>
            </a:r>
            <a:r>
              <a:rPr lang="en-US" sz="2000" dirty="0" err="1">
                <a:ea typeface="Calibri"/>
              </a:rPr>
              <a:t>rápida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 dirty="0">
                <a:ea typeface="Calibri"/>
              </a:rPr>
              <a:t>Mejor </a:t>
            </a:r>
            <a:r>
              <a:rPr lang="en-US" sz="2000" dirty="0" err="1">
                <a:ea typeface="Calibri"/>
              </a:rPr>
              <a:t>experiencia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usuario</a:t>
            </a:r>
            <a:endParaRPr lang="es-ES" sz="2000" dirty="0"/>
          </a:p>
          <a:p>
            <a:pPr marL="285750" indent="-285750">
              <a:buChar char="•"/>
            </a:pPr>
            <a:r>
              <a:rPr lang="en-US" sz="2000" dirty="0">
                <a:ea typeface="Calibri"/>
              </a:rPr>
              <a:t>Ideal para interfaces </a:t>
            </a:r>
            <a:r>
              <a:rPr lang="en-US" sz="2000" dirty="0" err="1">
                <a:ea typeface="Calibri"/>
              </a:rPr>
              <a:t>interactivas</a:t>
            </a:r>
            <a:endParaRPr lang="en-US" sz="2000" dirty="0"/>
          </a:p>
          <a:p>
            <a:r>
              <a:rPr lang="en-US" sz="2000" b="1" dirty="0" err="1">
                <a:ea typeface="Calibri"/>
              </a:rPr>
              <a:t>Desventajas</a:t>
            </a:r>
            <a:r>
              <a:rPr lang="en-US" sz="2000" b="1" dirty="0">
                <a:ea typeface="Calibri"/>
              </a:rPr>
              <a:t>:</a:t>
            </a:r>
            <a:endParaRPr lang="en-US" sz="2000" b="1" dirty="0"/>
          </a:p>
          <a:p>
            <a:pPr marL="285750" indent="-285750">
              <a:buChar char="•"/>
            </a:pPr>
            <a:r>
              <a:rPr lang="en-US" sz="2000" dirty="0">
                <a:ea typeface="Calibri"/>
              </a:rPr>
              <a:t>Mala </a:t>
            </a:r>
            <a:r>
              <a:rPr lang="en-US" sz="2000" dirty="0" err="1">
                <a:ea typeface="Calibri"/>
              </a:rPr>
              <a:t>indexación</a:t>
            </a:r>
            <a:r>
              <a:rPr lang="en-US" sz="2000" dirty="0">
                <a:ea typeface="Calibri"/>
              </a:rPr>
              <a:t> SEO </a:t>
            </a:r>
            <a:r>
              <a:rPr lang="en-US" sz="2000" dirty="0" err="1">
                <a:ea typeface="Calibri"/>
              </a:rPr>
              <a:t>por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defecto</a:t>
            </a:r>
            <a:endParaRPr lang="en-US" sz="2000" dirty="0"/>
          </a:p>
          <a:p>
            <a:pPr marL="285750" indent="-285750">
              <a:buChar char="•"/>
            </a:pPr>
            <a:r>
              <a:rPr lang="en-US" sz="2000" dirty="0">
                <a:ea typeface="Calibri"/>
              </a:rPr>
              <a:t>Mayor </a:t>
            </a:r>
            <a:r>
              <a:rPr lang="en-US" sz="2000" dirty="0" err="1">
                <a:ea typeface="Calibri"/>
              </a:rPr>
              <a:t>complejidad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manejo</a:t>
            </a:r>
            <a:r>
              <a:rPr lang="en-US" sz="2000" dirty="0">
                <a:ea typeface="Calibri"/>
              </a:rPr>
              <a:t> del </a:t>
            </a:r>
            <a:r>
              <a:rPr lang="en-US" sz="2000" dirty="0" err="1">
                <a:ea typeface="Calibri"/>
              </a:rPr>
              <a:t>historial</a:t>
            </a:r>
            <a:r>
              <a:rPr lang="en-US" sz="2000" dirty="0">
                <a:ea typeface="Calibri"/>
              </a:rPr>
              <a:t> y </a:t>
            </a:r>
            <a:r>
              <a:rPr lang="en-US" sz="2000" dirty="0" err="1">
                <a:ea typeface="Calibri"/>
              </a:rPr>
              <a:t>rutas</a:t>
            </a:r>
            <a:endParaRPr lang="en-US" sz="2000" dirty="0"/>
          </a:p>
          <a:p>
            <a:pPr marL="285750" indent="-285750">
              <a:buChar char="•"/>
            </a:pPr>
            <a:endParaRPr lang="en-US" sz="2000" dirty="0">
              <a:ea typeface="Calibri"/>
            </a:endParaRPr>
          </a:p>
          <a:p>
            <a:r>
              <a:rPr lang="en-US" sz="2000" b="1" dirty="0" err="1">
                <a:ea typeface="Calibri"/>
              </a:rPr>
              <a:t>Tecnologías</a:t>
            </a:r>
            <a:r>
              <a:rPr lang="en-US" sz="2000" b="1" dirty="0">
                <a:ea typeface="Calibri"/>
              </a:rPr>
              <a:t> </a:t>
            </a:r>
            <a:r>
              <a:rPr lang="en-US" sz="2000" b="1" dirty="0" err="1">
                <a:ea typeface="Calibri"/>
              </a:rPr>
              <a:t>típicas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React, Vue, Angular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095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9171FA99-63BC-36E3-3F0B-888C1C0C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FB63D911-3919-F7DA-7562-57936C4C15F7}"/>
              </a:ext>
            </a:extLst>
          </p:cNvPr>
          <p:cNvSpPr txBox="1">
            <a:spLocks/>
          </p:cNvSpPr>
          <p:nvPr/>
        </p:nvSpPr>
        <p:spPr>
          <a:xfrm>
            <a:off x="326749" y="590631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MPA – Multi Page Application (</a:t>
            </a:r>
            <a:r>
              <a:rPr lang="en-US" sz="2400" b="1" err="1">
                <a:solidFill>
                  <a:srgbClr val="1C1711"/>
                </a:solidFill>
              </a:rPr>
              <a:t>Aplicación</a:t>
            </a:r>
            <a:r>
              <a:rPr lang="en-US" sz="2400" b="1" dirty="0">
                <a:solidFill>
                  <a:srgbClr val="1C1711"/>
                </a:solidFill>
              </a:rPr>
              <a:t> de </a:t>
            </a:r>
            <a:r>
              <a:rPr lang="en-US" sz="2400" b="1" err="1">
                <a:solidFill>
                  <a:srgbClr val="1C1711"/>
                </a:solidFill>
              </a:rPr>
              <a:t>Múltiples</a:t>
            </a:r>
            <a:r>
              <a:rPr lang="en-US" sz="2400" b="1" dirty="0">
                <a:solidFill>
                  <a:srgbClr val="1C1711"/>
                </a:solidFill>
              </a:rPr>
              <a:t> </a:t>
            </a:r>
            <a:r>
              <a:rPr lang="en-US" sz="2400" b="1" err="1">
                <a:solidFill>
                  <a:srgbClr val="1C1711"/>
                </a:solidFill>
              </a:rPr>
              <a:t>Páginas</a:t>
            </a:r>
            <a:r>
              <a:rPr lang="en-US" sz="2400" b="1" dirty="0">
                <a:solidFill>
                  <a:srgbClr val="1C1711"/>
                </a:solidFill>
              </a:rPr>
              <a:t>)</a:t>
            </a:r>
            <a:endParaRPr lang="es-E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3FB090-ED27-1C3C-0C96-5A38D013D08C}"/>
              </a:ext>
            </a:extLst>
          </p:cNvPr>
          <p:cNvSpPr txBox="1"/>
          <p:nvPr/>
        </p:nvSpPr>
        <p:spPr>
          <a:xfrm>
            <a:off x="324465" y="1356851"/>
            <a:ext cx="697107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ea typeface="Calibri"/>
              </a:rPr>
              <a:t>Cada </a:t>
            </a:r>
            <a:r>
              <a:rPr lang="en-US" sz="2000" dirty="0" err="1">
                <a:ea typeface="Calibri"/>
              </a:rPr>
              <a:t>acción</a:t>
            </a:r>
            <a:r>
              <a:rPr lang="en-US" sz="2000" dirty="0">
                <a:ea typeface="Calibri"/>
              </a:rPr>
              <a:t> del </a:t>
            </a:r>
            <a:r>
              <a:rPr lang="en-US" sz="2000" dirty="0" err="1">
                <a:ea typeface="Calibri"/>
              </a:rPr>
              <a:t>usuario</a:t>
            </a:r>
            <a:r>
              <a:rPr lang="en-US" sz="2000" dirty="0">
                <a:ea typeface="Calibri"/>
              </a:rPr>
              <a:t> (</a:t>
            </a:r>
            <a:r>
              <a:rPr lang="en-US" sz="2000" dirty="0" err="1">
                <a:ea typeface="Calibri"/>
              </a:rPr>
              <a:t>como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hacer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clic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en</a:t>
            </a:r>
            <a:r>
              <a:rPr lang="en-US" sz="2000" dirty="0">
                <a:ea typeface="Calibri"/>
              </a:rPr>
              <a:t> un enlace) genera </a:t>
            </a:r>
            <a:r>
              <a:rPr lang="en-US" sz="2000" dirty="0" err="1">
                <a:ea typeface="Calibri"/>
              </a:rPr>
              <a:t>una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nueva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solicitud</a:t>
            </a:r>
            <a:r>
              <a:rPr lang="en-US" sz="2000" dirty="0">
                <a:ea typeface="Calibri"/>
              </a:rPr>
              <a:t> al </a:t>
            </a:r>
            <a:r>
              <a:rPr lang="en-US" sz="2000" dirty="0" err="1">
                <a:ea typeface="Calibri"/>
              </a:rPr>
              <a:t>servidor</a:t>
            </a:r>
            <a:r>
              <a:rPr lang="en-US" sz="2000" dirty="0">
                <a:ea typeface="Calibri"/>
              </a:rPr>
              <a:t> y carga </a:t>
            </a:r>
            <a:r>
              <a:rPr lang="en-US" sz="2000" dirty="0" err="1">
                <a:ea typeface="Calibri"/>
              </a:rPr>
              <a:t>una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página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nueva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completamente</a:t>
            </a:r>
            <a:r>
              <a:rPr lang="en-US" sz="2000" dirty="0">
                <a:ea typeface="Calibri"/>
              </a:rPr>
              <a:t>.</a:t>
            </a:r>
            <a:endParaRPr lang="es-E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Ejemplos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Amazon, Wikipedia, </a:t>
            </a:r>
            <a:r>
              <a:rPr lang="en-US" sz="2000" dirty="0" err="1">
                <a:ea typeface="Calibri"/>
              </a:rPr>
              <a:t>portales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gubernamentales</a:t>
            </a:r>
            <a:endParaRPr lang="en-US" dirty="0" err="1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Mejor para SEO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Arquitectura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clásica</a:t>
            </a:r>
            <a:r>
              <a:rPr lang="en-US" sz="2000" dirty="0">
                <a:ea typeface="Calibri"/>
              </a:rPr>
              <a:t> y </a:t>
            </a:r>
            <a:r>
              <a:rPr lang="en-US" sz="2000" dirty="0" err="1">
                <a:ea typeface="Calibri"/>
              </a:rPr>
              <a:t>fácil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mantener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proyectos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grandes</a:t>
            </a:r>
            <a:endParaRPr lang="en-US" dirty="0" err="1"/>
          </a:p>
          <a:p>
            <a:pPr algn="just"/>
            <a:r>
              <a:rPr lang="en-US" sz="2000" b="1" dirty="0" err="1">
                <a:ea typeface="Calibri"/>
              </a:rPr>
              <a:t>Desventajas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Experiencia </a:t>
            </a:r>
            <a:r>
              <a:rPr lang="en-US" sz="2000" dirty="0" err="1">
                <a:ea typeface="Calibri"/>
              </a:rPr>
              <a:t>menos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fluida</a:t>
            </a:r>
            <a:r>
              <a:rPr lang="en-US" sz="2000" dirty="0">
                <a:ea typeface="Calibri"/>
              </a:rPr>
              <a:t> (mayor carga </a:t>
            </a:r>
            <a:r>
              <a:rPr lang="en-US" sz="2000" dirty="0" err="1">
                <a:ea typeface="Calibri"/>
              </a:rPr>
              <a:t>por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cada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cambio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página</a:t>
            </a:r>
            <a:r>
              <a:rPr lang="en-US" sz="2000" dirty="0">
                <a:ea typeface="Calibri"/>
              </a:rPr>
              <a:t>)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Mayor </a:t>
            </a:r>
            <a:r>
              <a:rPr lang="en-US" sz="2000" dirty="0" err="1">
                <a:ea typeface="Calibri"/>
              </a:rPr>
              <a:t>consumo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recursos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si</a:t>
            </a:r>
            <a:r>
              <a:rPr lang="en-US" sz="2000" dirty="0">
                <a:ea typeface="Calibri"/>
              </a:rPr>
              <a:t> no se </a:t>
            </a:r>
            <a:r>
              <a:rPr lang="en-US" sz="2000" dirty="0" err="1">
                <a:ea typeface="Calibri"/>
              </a:rPr>
              <a:t>optimiza</a:t>
            </a:r>
            <a:endParaRPr lang="en-US" dirty="0" err="1"/>
          </a:p>
          <a:p>
            <a:pPr marL="285750" indent="-285750" algn="just">
              <a:buChar char="•"/>
            </a:pPr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Tecnologías</a:t>
            </a:r>
            <a:r>
              <a:rPr lang="en-US" sz="2000" b="1" dirty="0">
                <a:ea typeface="Calibri"/>
              </a:rPr>
              <a:t> </a:t>
            </a:r>
            <a:r>
              <a:rPr lang="en-US" sz="2000" b="1" dirty="0" err="1">
                <a:ea typeface="Calibri"/>
              </a:rPr>
              <a:t>típicas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PHP + HTML, Java Spring, Ruby on Rails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05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A89E3502-CCF2-0A96-EEE6-61D5C210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E1D7A9C7-B672-C70D-A9BC-16FCB799CCF5}"/>
              </a:ext>
            </a:extLst>
          </p:cNvPr>
          <p:cNvSpPr txBox="1">
            <a:spLocks/>
          </p:cNvSpPr>
          <p:nvPr/>
        </p:nvSpPr>
        <p:spPr>
          <a:xfrm>
            <a:off x="326749" y="590631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PWA – Progressive Web App (</a:t>
            </a:r>
            <a:r>
              <a:rPr lang="en-US" sz="2400" b="1" err="1">
                <a:solidFill>
                  <a:srgbClr val="1C1711"/>
                </a:solidFill>
              </a:rPr>
              <a:t>Aplicación</a:t>
            </a:r>
            <a:r>
              <a:rPr lang="en-US" sz="2400" b="1" dirty="0">
                <a:solidFill>
                  <a:srgbClr val="1C1711"/>
                </a:solidFill>
              </a:rPr>
              <a:t> Web </a:t>
            </a:r>
            <a:r>
              <a:rPr lang="en-US" sz="2400" b="1" err="1">
                <a:solidFill>
                  <a:srgbClr val="1C1711"/>
                </a:solidFill>
              </a:rPr>
              <a:t>Progresiva</a:t>
            </a:r>
            <a:r>
              <a:rPr lang="en-US" sz="2400" b="1" dirty="0">
                <a:solidFill>
                  <a:srgbClr val="1C1711"/>
                </a:solidFill>
              </a:rPr>
              <a:t>)</a:t>
            </a:r>
            <a:endParaRPr lang="es-E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BD3B53-DB51-A18D-A174-88D4B452051D}"/>
              </a:ext>
            </a:extLst>
          </p:cNvPr>
          <p:cNvSpPr txBox="1"/>
          <p:nvPr/>
        </p:nvSpPr>
        <p:spPr>
          <a:xfrm>
            <a:off x="324465" y="1356851"/>
            <a:ext cx="697107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ea typeface="Calibri"/>
              </a:rPr>
              <a:t>Una app web que se </a:t>
            </a:r>
            <a:r>
              <a:rPr lang="en-US" sz="2000" dirty="0" err="1">
                <a:ea typeface="Calibri"/>
              </a:rPr>
              <a:t>comporta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como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una</a:t>
            </a:r>
            <a:r>
              <a:rPr lang="en-US" sz="2000" dirty="0">
                <a:ea typeface="Calibri"/>
              </a:rPr>
              <a:t> app </a:t>
            </a:r>
            <a:r>
              <a:rPr lang="en-US" sz="2000" dirty="0" err="1">
                <a:ea typeface="Calibri"/>
              </a:rPr>
              <a:t>móvil</a:t>
            </a:r>
            <a:r>
              <a:rPr lang="en-US" sz="2000" dirty="0">
                <a:ea typeface="Calibri"/>
              </a:rPr>
              <a:t>. </a:t>
            </a:r>
            <a:r>
              <a:rPr lang="en-US" sz="2000" dirty="0" err="1">
                <a:ea typeface="Calibri"/>
              </a:rPr>
              <a:t>Puede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instalarse</a:t>
            </a:r>
            <a:r>
              <a:rPr lang="en-US" sz="2000" dirty="0">
                <a:ea typeface="Calibri"/>
              </a:rPr>
              <a:t>, </a:t>
            </a:r>
            <a:r>
              <a:rPr lang="en-US" sz="2000" dirty="0" err="1">
                <a:ea typeface="Calibri"/>
              </a:rPr>
              <a:t>funciona</a:t>
            </a:r>
            <a:r>
              <a:rPr lang="en-US" sz="2000" dirty="0">
                <a:ea typeface="Calibri"/>
              </a:rPr>
              <a:t> offline y </a:t>
            </a:r>
            <a:r>
              <a:rPr lang="en-US" sz="2000" dirty="0" err="1">
                <a:ea typeface="Calibri"/>
              </a:rPr>
              <a:t>envía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notificaciones</a:t>
            </a:r>
            <a:r>
              <a:rPr lang="en-US" sz="2000" dirty="0">
                <a:ea typeface="Calibri"/>
              </a:rPr>
              <a:t> push.</a:t>
            </a:r>
            <a:endParaRPr lang="es-E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err="1">
                <a:ea typeface="Calibri"/>
              </a:rPr>
              <a:t>Ejemplos</a:t>
            </a:r>
            <a:r>
              <a:rPr lang="en-US" sz="2000" b="1">
                <a:ea typeface="Calibri"/>
              </a:rPr>
              <a:t>:</a:t>
            </a:r>
            <a:r>
              <a:rPr lang="en-US" sz="2000">
                <a:ea typeface="Calibri"/>
              </a:rPr>
              <a:t> Twitter Lite, Starbucks PWA, Spotify Web (</a:t>
            </a:r>
            <a:r>
              <a:rPr lang="en-US" sz="2000" err="1">
                <a:ea typeface="Calibri"/>
              </a:rPr>
              <a:t>móvil</a:t>
            </a:r>
            <a:r>
              <a:rPr lang="en-US" sz="2000">
                <a:ea typeface="Calibri"/>
              </a:rPr>
              <a:t>)</a:t>
            </a:r>
            <a:endParaRPr lang="en-US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Usable sin </a:t>
            </a:r>
            <a:r>
              <a:rPr lang="en-US" sz="2000" dirty="0" err="1">
                <a:ea typeface="Calibri"/>
              </a:rPr>
              <a:t>conexión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Experiencia similar a </a:t>
            </a:r>
            <a:r>
              <a:rPr lang="en-US" sz="2000" dirty="0" err="1">
                <a:ea typeface="Calibri"/>
              </a:rPr>
              <a:t>una</a:t>
            </a:r>
            <a:r>
              <a:rPr lang="en-US" sz="2000" dirty="0">
                <a:ea typeface="Calibri"/>
              </a:rPr>
              <a:t> app </a:t>
            </a:r>
            <a:r>
              <a:rPr lang="en-US" sz="2000" dirty="0" err="1">
                <a:ea typeface="Calibri"/>
              </a:rPr>
              <a:t>nativa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Menor </a:t>
            </a:r>
            <a:r>
              <a:rPr lang="en-US" sz="2000" dirty="0" err="1">
                <a:ea typeface="Calibri"/>
              </a:rPr>
              <a:t>consumo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datos</a:t>
            </a:r>
            <a:endParaRPr lang="en-US" dirty="0" err="1"/>
          </a:p>
          <a:p>
            <a:pPr algn="just"/>
            <a:r>
              <a:rPr lang="en-US" sz="2000" b="1" dirty="0" err="1">
                <a:ea typeface="Calibri"/>
              </a:rPr>
              <a:t>Desventajas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Algunas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funciones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limitadas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en</a:t>
            </a:r>
            <a:r>
              <a:rPr lang="en-US" sz="2000" dirty="0">
                <a:ea typeface="Calibri"/>
              </a:rPr>
              <a:t> iOS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Mayor </a:t>
            </a:r>
            <a:r>
              <a:rPr lang="en-US" sz="2000" dirty="0" err="1">
                <a:ea typeface="Calibri"/>
              </a:rPr>
              <a:t>complejidad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configuración</a:t>
            </a:r>
            <a:endParaRPr lang="en-US" dirty="0" err="1"/>
          </a:p>
          <a:p>
            <a:pPr marL="285750" indent="-285750" algn="just">
              <a:buChar char="•"/>
            </a:pPr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Tecnologías</a:t>
            </a:r>
            <a:r>
              <a:rPr lang="en-US" sz="2000" b="1" dirty="0">
                <a:ea typeface="Calibri"/>
              </a:rPr>
              <a:t> </a:t>
            </a:r>
            <a:r>
              <a:rPr lang="en-US" sz="2000" b="1" dirty="0" err="1">
                <a:ea typeface="Calibri"/>
              </a:rPr>
              <a:t>típicas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HTML5, JS, Service Workers</a:t>
            </a:r>
          </a:p>
        </p:txBody>
      </p:sp>
    </p:spTree>
    <p:extLst>
      <p:ext uri="{BB962C8B-B14F-4D97-AF65-F5344CB8AC3E}">
        <p14:creationId xmlns:p14="http://schemas.microsoft.com/office/powerpoint/2010/main" val="1363584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C8D15A42-AFAE-D2FD-E0E7-BD0BA1B3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1EC28857-0388-8EE3-B156-41D3CA4EE7C2}"/>
              </a:ext>
            </a:extLst>
          </p:cNvPr>
          <p:cNvSpPr txBox="1">
            <a:spLocks/>
          </p:cNvSpPr>
          <p:nvPr/>
        </p:nvSpPr>
        <p:spPr>
          <a:xfrm>
            <a:off x="326749" y="590631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SSR – Server Side Rendering (</a:t>
            </a:r>
            <a:r>
              <a:rPr lang="en-US" sz="2400" b="1" dirty="0" err="1">
                <a:solidFill>
                  <a:srgbClr val="1C1711"/>
                </a:solidFill>
              </a:rPr>
              <a:t>Renderizado</a:t>
            </a:r>
            <a:r>
              <a:rPr lang="en-US" sz="2400" b="1" dirty="0">
                <a:solidFill>
                  <a:srgbClr val="1C1711"/>
                </a:solidFill>
              </a:rPr>
              <a:t> del </a:t>
            </a:r>
            <a:r>
              <a:rPr lang="en-US" sz="2400" b="1" dirty="0" err="1">
                <a:solidFill>
                  <a:srgbClr val="1C1711"/>
                </a:solidFill>
              </a:rPr>
              <a:t>lado</a:t>
            </a:r>
            <a:r>
              <a:rPr lang="en-US" sz="2400" b="1" dirty="0">
                <a:solidFill>
                  <a:srgbClr val="1C1711"/>
                </a:solidFill>
              </a:rPr>
              <a:t> del </a:t>
            </a:r>
            <a:r>
              <a:rPr lang="en-US" sz="2400" b="1" dirty="0" err="1">
                <a:solidFill>
                  <a:srgbClr val="1C1711"/>
                </a:solidFill>
              </a:rPr>
              <a:t>servidor</a:t>
            </a:r>
            <a:r>
              <a:rPr lang="en-US" sz="2400" b="1" dirty="0">
                <a:solidFill>
                  <a:srgbClr val="1C1711"/>
                </a:solidFill>
              </a:rPr>
              <a:t>)</a:t>
            </a:r>
            <a:endParaRPr lang="es-E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21BA7E-E4B7-5FD3-8A35-450481A40403}"/>
              </a:ext>
            </a:extLst>
          </p:cNvPr>
          <p:cNvSpPr txBox="1"/>
          <p:nvPr/>
        </p:nvSpPr>
        <p:spPr>
          <a:xfrm>
            <a:off x="324465" y="1356851"/>
            <a:ext cx="697107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ea typeface="Calibri"/>
              </a:rPr>
              <a:t>El </a:t>
            </a:r>
            <a:r>
              <a:rPr lang="en-US" sz="2000" dirty="0" err="1">
                <a:ea typeface="Calibri"/>
              </a:rPr>
              <a:t>servidor</a:t>
            </a:r>
            <a:r>
              <a:rPr lang="en-US" sz="2000" dirty="0">
                <a:ea typeface="Calibri"/>
              </a:rPr>
              <a:t> genera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HTML </a:t>
            </a:r>
            <a:r>
              <a:rPr lang="en-US" sz="2000" dirty="0" err="1">
                <a:ea typeface="Calibri"/>
              </a:rPr>
              <a:t>completo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cada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página</a:t>
            </a:r>
            <a:r>
              <a:rPr lang="en-US" sz="2000" dirty="0">
                <a:ea typeface="Calibri"/>
              </a:rPr>
              <a:t> antes de </a:t>
            </a:r>
            <a:r>
              <a:rPr lang="en-US" sz="2000" dirty="0" err="1">
                <a:ea typeface="Calibri"/>
              </a:rPr>
              <a:t>enviarlo</a:t>
            </a:r>
            <a:r>
              <a:rPr lang="en-US" sz="2000" dirty="0">
                <a:ea typeface="Calibri"/>
              </a:rPr>
              <a:t> al </a:t>
            </a:r>
            <a:r>
              <a:rPr lang="en-US" sz="2000" dirty="0" err="1">
                <a:ea typeface="Calibri"/>
              </a:rPr>
              <a:t>navegador</a:t>
            </a:r>
            <a:r>
              <a:rPr lang="en-US" sz="2000" dirty="0">
                <a:ea typeface="Calibri"/>
              </a:rPr>
              <a:t>. Ideal para SEO y carga </a:t>
            </a:r>
            <a:r>
              <a:rPr lang="en-US" sz="2000" dirty="0" err="1">
                <a:ea typeface="Calibri"/>
              </a:rPr>
              <a:t>inicial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rápida</a:t>
            </a:r>
            <a:r>
              <a:rPr lang="en-US" sz="2000" dirty="0">
                <a:ea typeface="Calibri"/>
              </a:rPr>
              <a:t>.</a:t>
            </a:r>
            <a:endParaRPr lang="es-E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Ejemplos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Blogs, e-commerce </a:t>
            </a:r>
            <a:r>
              <a:rPr lang="en-US" sz="2000" dirty="0" err="1">
                <a:ea typeface="Calibri"/>
              </a:rPr>
              <a:t>optimizados</a:t>
            </a:r>
            <a:r>
              <a:rPr lang="en-US" sz="2000" dirty="0">
                <a:ea typeface="Calibri"/>
              </a:rPr>
              <a:t>, Next.js apps</a:t>
            </a:r>
            <a:endParaRPr lang="en-U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SEO </a:t>
            </a:r>
            <a:r>
              <a:rPr lang="en-US" sz="2000" dirty="0" err="1">
                <a:ea typeface="Calibri"/>
              </a:rPr>
              <a:t>excelente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Rápida</a:t>
            </a:r>
            <a:r>
              <a:rPr lang="en-US" sz="2000" dirty="0">
                <a:ea typeface="Calibri"/>
              </a:rPr>
              <a:t> carga </a:t>
            </a:r>
            <a:r>
              <a:rPr lang="en-US" sz="2000" dirty="0" err="1">
                <a:ea typeface="Calibri"/>
              </a:rPr>
              <a:t>inicial</a:t>
            </a:r>
            <a:endParaRPr lang="en-US" dirty="0" err="1"/>
          </a:p>
          <a:p>
            <a:pPr algn="just"/>
            <a:r>
              <a:rPr lang="en-US" sz="2000" b="1" dirty="0" err="1">
                <a:ea typeface="Calibri"/>
              </a:rPr>
              <a:t>Desventajas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Más carga </a:t>
            </a:r>
            <a:r>
              <a:rPr lang="en-US" sz="2000" dirty="0" err="1">
                <a:ea typeface="Calibri"/>
              </a:rPr>
              <a:t>en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servidor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Menor </a:t>
            </a:r>
            <a:r>
              <a:rPr lang="en-US" sz="2000" dirty="0" err="1">
                <a:ea typeface="Calibri"/>
              </a:rPr>
              <a:t>interactividad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inmediata</a:t>
            </a:r>
            <a:r>
              <a:rPr lang="en-US" sz="2000" dirty="0">
                <a:ea typeface="Calibri"/>
              </a:rPr>
              <a:t> sin </a:t>
            </a:r>
            <a:r>
              <a:rPr lang="en-US" sz="2000" dirty="0" err="1">
                <a:ea typeface="Calibri"/>
              </a:rPr>
              <a:t>hidratar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frontend</a:t>
            </a:r>
            <a:endParaRPr lang="en-US" dirty="0"/>
          </a:p>
          <a:p>
            <a:pPr marL="285750" indent="-285750" algn="just">
              <a:buChar char="•"/>
            </a:pPr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Tecnologías</a:t>
            </a:r>
            <a:r>
              <a:rPr lang="en-US" sz="2000" b="1" dirty="0">
                <a:ea typeface="Calibri"/>
              </a:rPr>
              <a:t> </a:t>
            </a:r>
            <a:r>
              <a:rPr lang="en-US" sz="2000" b="1" dirty="0" err="1">
                <a:ea typeface="Calibri"/>
              </a:rPr>
              <a:t>típicas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Next.js (React), Nuxt.js (Vue), frameworks de backend </a:t>
            </a:r>
            <a:r>
              <a:rPr lang="en-US" sz="2000" dirty="0" err="1">
                <a:ea typeface="Calibri"/>
              </a:rPr>
              <a:t>tradicionales</a:t>
            </a:r>
            <a:endParaRPr lang="en-US" dirty="0" err="1"/>
          </a:p>
          <a:p>
            <a:pPr algn="just"/>
            <a:endParaRPr lang="en-US" sz="20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9485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1BB05A6F-680E-7981-9A65-5D199990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6B12AFA5-B4A2-704F-2439-F560BB6AB53A}"/>
              </a:ext>
            </a:extLst>
          </p:cNvPr>
          <p:cNvSpPr txBox="1">
            <a:spLocks/>
          </p:cNvSpPr>
          <p:nvPr/>
        </p:nvSpPr>
        <p:spPr>
          <a:xfrm>
            <a:off x="326749" y="590631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C1711"/>
                </a:solidFill>
              </a:rPr>
              <a:t>Sitios </a:t>
            </a:r>
            <a:r>
              <a:rPr lang="en-US" sz="2400" b="1" dirty="0" err="1">
                <a:solidFill>
                  <a:srgbClr val="1C1711"/>
                </a:solidFill>
              </a:rPr>
              <a:t>Estaticos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8C76AD-FA87-1DA7-3BDB-559678C194F2}"/>
              </a:ext>
            </a:extLst>
          </p:cNvPr>
          <p:cNvSpPr txBox="1"/>
          <p:nvPr/>
        </p:nvSpPr>
        <p:spPr>
          <a:xfrm>
            <a:off x="324465" y="1356851"/>
            <a:ext cx="697107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ea typeface="Calibri"/>
              </a:rPr>
              <a:t>Son </a:t>
            </a:r>
            <a:r>
              <a:rPr lang="en-US" sz="2000" dirty="0" err="1">
                <a:ea typeface="Calibri"/>
              </a:rPr>
              <a:t>páginas</a:t>
            </a:r>
            <a:r>
              <a:rPr lang="en-US" sz="2000" dirty="0">
                <a:ea typeface="Calibri"/>
              </a:rPr>
              <a:t> web </a:t>
            </a:r>
            <a:r>
              <a:rPr lang="en-US" sz="2000" dirty="0" err="1">
                <a:ea typeface="Calibri"/>
              </a:rPr>
              <a:t>preconstruidas</a:t>
            </a:r>
            <a:r>
              <a:rPr lang="en-US" sz="2000" dirty="0">
                <a:ea typeface="Calibri"/>
              </a:rPr>
              <a:t> (HTML, CSS, JS) que no </a:t>
            </a:r>
            <a:r>
              <a:rPr lang="en-US" sz="2000" dirty="0" err="1">
                <a:ea typeface="Calibri"/>
              </a:rPr>
              <a:t>requieren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procesamiento</a:t>
            </a:r>
            <a:r>
              <a:rPr lang="en-US" sz="2000" dirty="0">
                <a:ea typeface="Calibri"/>
              </a:rPr>
              <a:t> del </a:t>
            </a:r>
            <a:r>
              <a:rPr lang="en-US" sz="2000" dirty="0" err="1">
                <a:ea typeface="Calibri"/>
              </a:rPr>
              <a:t>servidor</a:t>
            </a:r>
            <a:r>
              <a:rPr lang="en-US" sz="2000" dirty="0">
                <a:ea typeface="Calibri"/>
              </a:rPr>
              <a:t> para </a:t>
            </a:r>
            <a:r>
              <a:rPr lang="en-US" sz="2000" dirty="0" err="1">
                <a:ea typeface="Calibri"/>
              </a:rPr>
              <a:t>mostrarse</a:t>
            </a:r>
            <a:r>
              <a:rPr lang="en-US" sz="2000" dirty="0">
                <a:ea typeface="Calibri"/>
              </a:rPr>
              <a:t>.</a:t>
            </a:r>
            <a:endParaRPr lang="es-E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Ejemplos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Portafolios</a:t>
            </a:r>
            <a:r>
              <a:rPr lang="en-US" sz="2000" dirty="0">
                <a:ea typeface="Calibri"/>
              </a:rPr>
              <a:t>, blogs simples, landing pages</a:t>
            </a:r>
            <a:endParaRPr lang="en-U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Extremadamente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rápidos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Fácilmente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alojables</a:t>
            </a:r>
            <a:r>
              <a:rPr lang="en-US" sz="2000" dirty="0">
                <a:ea typeface="Calibri"/>
              </a:rPr>
              <a:t> (GitHub Pages, Netlify)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Muy </a:t>
            </a:r>
            <a:r>
              <a:rPr lang="en-US" sz="2000" dirty="0" err="1">
                <a:ea typeface="Calibri"/>
              </a:rPr>
              <a:t>seguros</a:t>
            </a:r>
            <a:endParaRPr lang="en-US" dirty="0" err="1"/>
          </a:p>
          <a:p>
            <a:pPr algn="just"/>
            <a:r>
              <a:rPr lang="en-US" sz="2000" b="1" dirty="0" err="1">
                <a:ea typeface="Calibri"/>
              </a:rPr>
              <a:t>Desventajas</a:t>
            </a:r>
            <a:r>
              <a:rPr lang="en-US" sz="2000" b="1" dirty="0">
                <a:ea typeface="Calibri"/>
              </a:rPr>
              <a:t>:</a:t>
            </a:r>
            <a:endParaRPr lang="en-US" dirty="0"/>
          </a:p>
          <a:p>
            <a:pPr marL="285750" indent="-285750" algn="just">
              <a:buChar char="•"/>
            </a:pPr>
            <a:r>
              <a:rPr lang="en-US" sz="2000" dirty="0">
                <a:ea typeface="Calibri"/>
              </a:rPr>
              <a:t>Poco o </a:t>
            </a:r>
            <a:r>
              <a:rPr lang="en-US" sz="2000" dirty="0" err="1">
                <a:ea typeface="Calibri"/>
              </a:rPr>
              <a:t>ningún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contenido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dinámico</a:t>
            </a:r>
            <a:endParaRPr lang="en-US" dirty="0" err="1"/>
          </a:p>
          <a:p>
            <a:pPr marL="285750" indent="-285750" algn="just">
              <a:buChar char="•"/>
            </a:pPr>
            <a:r>
              <a:rPr lang="en-US" sz="2000" dirty="0" err="1">
                <a:ea typeface="Calibri"/>
              </a:rPr>
              <a:t>Necesidad</a:t>
            </a:r>
            <a:r>
              <a:rPr lang="en-US" sz="2000" dirty="0">
                <a:ea typeface="Calibri"/>
              </a:rPr>
              <a:t> de </a:t>
            </a:r>
            <a:r>
              <a:rPr lang="en-US" sz="2000" dirty="0" err="1">
                <a:ea typeface="Calibri"/>
              </a:rPr>
              <a:t>regenerar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el</a:t>
            </a:r>
            <a:r>
              <a:rPr lang="en-US" sz="2000" dirty="0">
                <a:ea typeface="Calibri"/>
              </a:rPr>
              <a:t> sitio para </a:t>
            </a:r>
            <a:r>
              <a:rPr lang="en-US" sz="2000" dirty="0" err="1">
                <a:ea typeface="Calibri"/>
              </a:rPr>
              <a:t>actualizar</a:t>
            </a:r>
            <a:r>
              <a:rPr lang="en-US" sz="2000" dirty="0">
                <a:ea typeface="Calibri"/>
              </a:rPr>
              <a:t> </a:t>
            </a:r>
            <a:r>
              <a:rPr lang="en-US" sz="2000" dirty="0" err="1">
                <a:ea typeface="Calibri"/>
              </a:rPr>
              <a:t>contenido</a:t>
            </a:r>
            <a:endParaRPr lang="en-US" dirty="0" err="1"/>
          </a:p>
          <a:p>
            <a:pPr marL="285750" indent="-285750" algn="just">
              <a:buChar char="•"/>
            </a:pPr>
            <a:endParaRPr lang="en-US" sz="2000" dirty="0">
              <a:ea typeface="Calibri"/>
            </a:endParaRPr>
          </a:p>
          <a:p>
            <a:pPr algn="just"/>
            <a:r>
              <a:rPr lang="en-US" sz="2000" b="1" dirty="0" err="1">
                <a:ea typeface="Calibri"/>
              </a:rPr>
              <a:t>Tecnologías</a:t>
            </a:r>
            <a:r>
              <a:rPr lang="en-US" sz="2000" b="1" dirty="0">
                <a:ea typeface="Calibri"/>
              </a:rPr>
              <a:t> </a:t>
            </a:r>
            <a:r>
              <a:rPr lang="en-US" sz="2000" b="1" dirty="0" err="1">
                <a:ea typeface="Calibri"/>
              </a:rPr>
              <a:t>típicas</a:t>
            </a:r>
            <a:r>
              <a:rPr lang="en-US" sz="2000" b="1" dirty="0">
                <a:ea typeface="Calibri"/>
              </a:rPr>
              <a:t>:</a:t>
            </a:r>
            <a:r>
              <a:rPr lang="en-US" sz="2000" dirty="0">
                <a:ea typeface="Calibri"/>
              </a:rPr>
              <a:t> Jekyll, Hugo, Gatsby (Static Site Generators)</a:t>
            </a:r>
            <a:endParaRPr lang="en-US" dirty="0"/>
          </a:p>
          <a:p>
            <a:pPr algn="just"/>
            <a:endParaRPr lang="en-US" sz="2000" dirty="0">
              <a:ea typeface="Calibri"/>
            </a:endParaRPr>
          </a:p>
          <a:p>
            <a:pPr algn="just"/>
            <a:endParaRPr lang="en-US" sz="20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6538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C056D52C-EF2F-55D8-E1FB-24EC12CB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187FB420-709E-058F-A9B2-AA3FB737C835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F9A76DD5-D615-DAF0-DAA5-36959FEDD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 err="1"/>
              <a:t>Tipos</a:t>
            </a:r>
            <a:r>
              <a:rPr lang="en-US" dirty="0"/>
              <a:t> de App Web - </a:t>
            </a:r>
            <a:r>
              <a:rPr lang="en-US" dirty="0" err="1"/>
              <a:t>funcionalidad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6C329779-FE54-7BE7-A608-98AC9B5ED2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>
            <a:extLst>
              <a:ext uri="{FF2B5EF4-FFF2-40B4-BE49-F238E27FC236}">
                <a16:creationId xmlns:a16="http://schemas.microsoft.com/office/drawing/2014/main" id="{57D2CD0B-B97A-3BDC-FE8C-9FADAEDEF7B0}"/>
              </a:ext>
            </a:extLst>
          </p:cNvPr>
          <p:cNvSpPr txBox="1"/>
          <p:nvPr/>
        </p:nvSpPr>
        <p:spPr>
          <a:xfrm>
            <a:off x="1036765" y="1605561"/>
            <a:ext cx="10025976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dinámicas: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Permiten la interacción del usuario con el contenido, que puede cambiar en tiempo real. Ejemplos incluyen redes sociales, foros o sistemas de gestión de contenido (CMS).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 </a:t>
            </a:r>
          </a:p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de comercio electrónico: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Facilitan la compra y venta de productos y servicios en línea, con funcionalidades como carritos de compra, sistemas de pago y gestión de inventario</a:t>
            </a: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. </a:t>
            </a:r>
          </a:p>
          <a:p>
            <a:pPr algn="just"/>
            <a:endParaRPr lang="es-ES" sz="2000" b="1" dirty="0">
              <a:solidFill>
                <a:srgbClr val="7030A0"/>
              </a:solidFill>
              <a:ea typeface="Cambria"/>
              <a:sym typeface="Candara"/>
            </a:endParaRPr>
          </a:p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de gestión de contenido (CMS):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Permiten a los usuarios crear, editar y gestionar contenido de un sitio web sin conocimientos técnicos avanzados. Ejemplos son WordPress y Joomla.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 </a:t>
            </a:r>
          </a:p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de página única (SPA):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Cargan toda la funcionalidad en una sola página web, lo que mejora la experiencia del usuario y la velocidad de navegación</a:t>
            </a: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. </a:t>
            </a:r>
            <a:endParaRPr lang="es-CO" sz="2400" dirty="0">
              <a:solidFill>
                <a:srgbClr val="7030A0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59967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5D62896F-F38B-35C6-FFFA-3217D3C3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41F9C989-2E5E-C67E-BBE8-31CBE7FE25DF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7709ACC4-9AE7-6C10-44F9-4A49086E3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 err="1"/>
              <a:t>Tipos</a:t>
            </a:r>
            <a:r>
              <a:rPr lang="en-US" dirty="0"/>
              <a:t> de App Web - </a:t>
            </a:r>
            <a:r>
              <a:rPr lang="en-US" dirty="0" err="1"/>
              <a:t>funcionalidad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CFCE2E53-64A2-985F-8914-D090329CA5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>
            <a:extLst>
              <a:ext uri="{FF2B5EF4-FFF2-40B4-BE49-F238E27FC236}">
                <a16:creationId xmlns:a16="http://schemas.microsoft.com/office/drawing/2014/main" id="{5008BC2E-F01A-FEBF-F43D-CA5698A38929}"/>
              </a:ext>
            </a:extLst>
          </p:cNvPr>
          <p:cNvSpPr txBox="1"/>
          <p:nvPr/>
        </p:nvSpPr>
        <p:spPr>
          <a:xfrm>
            <a:off x="1510231" y="1980315"/>
            <a:ext cx="9171537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de portal: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Ofrecen acceso a diferentes recursos y servicios a través de un punto central, como un sistema de gestión empresarial. </a:t>
            </a:r>
          </a:p>
          <a:p>
            <a:pPr algn="just"/>
            <a:endParaRPr lang="es-ES" sz="2000" dirty="0">
              <a:solidFill>
                <a:srgbClr val="7030A0"/>
              </a:solidFill>
              <a:ea typeface="Cambria"/>
              <a:sym typeface="Candara"/>
            </a:endParaRPr>
          </a:p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progresivas (PWA):</a:t>
            </a:r>
          </a:p>
          <a:p>
            <a:pPr algn="just">
              <a:buChar char="•"/>
            </a:pPr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Ofrecen una experiencia similar a una aplicación nativa, con acceso sin conexión, notificaciones </a:t>
            </a:r>
            <a:r>
              <a:rPr lang="es-ES" sz="2000" dirty="0" err="1">
                <a:solidFill>
                  <a:srgbClr val="7030A0"/>
                </a:solidFill>
                <a:ea typeface="Cambria"/>
                <a:sym typeface="Candara"/>
              </a:rPr>
              <a:t>push</a:t>
            </a:r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 y acceso a funciones del dispositivo. </a:t>
            </a:r>
          </a:p>
          <a:p>
            <a:pPr algn="just">
              <a:buChar char="•"/>
            </a:pPr>
            <a:endParaRPr lang="es-ES" sz="2000" dirty="0">
              <a:solidFill>
                <a:srgbClr val="7030A0"/>
              </a:solidFill>
              <a:ea typeface="Cambria"/>
              <a:sym typeface="Candara"/>
            </a:endParaRPr>
          </a:p>
          <a:p>
            <a:pPr algn="just">
              <a:buChar char="•"/>
            </a:pPr>
            <a:r>
              <a:rPr lang="es-ES" sz="2000" b="1" dirty="0">
                <a:solidFill>
                  <a:srgbClr val="7030A0"/>
                </a:solidFill>
                <a:ea typeface="Cambria"/>
                <a:sym typeface="Candara"/>
              </a:rPr>
              <a:t>Aplicaciones web enriquecidas (RIA):</a:t>
            </a:r>
          </a:p>
          <a:p>
            <a:pPr algn="just"/>
            <a:r>
              <a:rPr lang="es-ES" sz="2000" dirty="0">
                <a:solidFill>
                  <a:srgbClr val="7030A0"/>
                </a:solidFill>
                <a:ea typeface="Cambria"/>
                <a:sym typeface="Candara"/>
              </a:rPr>
              <a:t>Combinan la funcionalidad de una aplicación web con la de una aplicación de escritorio, utilizando tecnologías como Flash o Silverlight (actualmente menos comunes</a:t>
            </a:r>
            <a:endParaRPr lang="es-CO" sz="2400" dirty="0">
              <a:solidFill>
                <a:srgbClr val="7030A0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49582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3122CEED-CFDF-CBAF-798B-9944621B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057B30B8-A27F-1E3B-278F-B5A74E6EE218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DC160846-4A77-D3F1-D26B-231292574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 err="1"/>
              <a:t>Tipos</a:t>
            </a:r>
            <a:r>
              <a:rPr lang="en-US" dirty="0"/>
              <a:t> de App Web – </a:t>
            </a:r>
            <a:r>
              <a:rPr lang="en-US" dirty="0" err="1"/>
              <a:t>relaciòn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5E781776-7195-EAA4-F91B-BDEC366C10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142EAA4-3714-E08B-DD1F-F141B98F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585412"/>
              </p:ext>
            </p:extLst>
          </p:nvPr>
        </p:nvGraphicFramePr>
        <p:xfrm>
          <a:off x="838200" y="2980214"/>
          <a:ext cx="10515600" cy="2499360"/>
        </p:xfrm>
        <a:graphic>
          <a:graphicData uri="http://schemas.openxmlformats.org/drawingml/2006/table">
            <a:tbl>
              <a:tblPr/>
              <a:tblGrid>
                <a:gridCol w="3329066">
                  <a:extLst>
                    <a:ext uri="{9D8B030D-6E8A-4147-A177-3AD203B41FA5}">
                      <a16:colId xmlns:a16="http://schemas.microsoft.com/office/drawing/2014/main" val="1310867662"/>
                    </a:ext>
                  </a:extLst>
                </a:gridCol>
                <a:gridCol w="7186534">
                  <a:extLst>
                    <a:ext uri="{9D8B030D-6E8A-4147-A177-3AD203B41FA5}">
                      <a16:colId xmlns:a16="http://schemas.microsoft.com/office/drawing/2014/main" val="126278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Tipo </a:t>
                      </a:r>
                      <a:r>
                        <a:rPr lang="en-US" sz="2000" b="1" dirty="0" err="1"/>
                        <a:t>técnico</a:t>
                      </a:r>
                      <a:r>
                        <a:rPr lang="en-US" sz="2000" b="1" dirty="0"/>
                        <a:t> (</a:t>
                      </a:r>
                      <a:r>
                        <a:rPr lang="en-US" sz="2000" b="1" dirty="0" err="1"/>
                        <a:t>estructura</a:t>
                      </a:r>
                      <a:r>
                        <a:rPr lang="en-US" sz="2000" b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Funcionalidad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común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asociada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77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Sitios </a:t>
                      </a:r>
                      <a:r>
                        <a:rPr lang="en-US" sz="1800" b="1" dirty="0" err="1"/>
                        <a:t>estáticos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Portafolios, landing pages, currículums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06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MPA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Portales web, tiendas virtuales, CMS grandes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34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SPA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Apps de redes </a:t>
                      </a:r>
                      <a:r>
                        <a:rPr lang="en-US" sz="1800" dirty="0" err="1"/>
                        <a:t>sociales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correo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servicios</a:t>
                      </a:r>
                      <a:r>
                        <a:rPr lang="en-US" sz="1800" dirty="0"/>
                        <a:t> 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1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PWA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Versiones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móviles</a:t>
                      </a:r>
                      <a:r>
                        <a:rPr lang="en-US" sz="1800" dirty="0"/>
                        <a:t> de redes </a:t>
                      </a:r>
                      <a:r>
                        <a:rPr lang="en-US" sz="1800" dirty="0" err="1"/>
                        <a:t>sociales</a:t>
                      </a:r>
                      <a:r>
                        <a:rPr lang="en-US" sz="1800" dirty="0"/>
                        <a:t>, apps de </a:t>
                      </a:r>
                      <a:r>
                        <a:rPr lang="en-US" sz="1800" dirty="0" err="1"/>
                        <a:t>mensajería</a:t>
                      </a:r>
                      <a:r>
                        <a:rPr lang="en-US" sz="1800" dirty="0"/>
                        <a:t>, e-commerce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7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SSR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Blogs, ecommerce, </a:t>
                      </a:r>
                      <a:r>
                        <a:rPr lang="en-US" sz="1800" dirty="0" err="1"/>
                        <a:t>páginas</a:t>
                      </a:r>
                      <a:r>
                        <a:rPr lang="en-US" sz="1800" dirty="0"/>
                        <a:t> de alto </a:t>
                      </a:r>
                      <a:r>
                        <a:rPr lang="en-US" sz="1800" dirty="0" err="1"/>
                        <a:t>tráfico</a:t>
                      </a:r>
                      <a:r>
                        <a:rPr lang="en-US" sz="1800" dirty="0"/>
                        <a:t> con SEO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95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111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A682F2AD-2BD3-67FF-891B-8620D5DB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8">
            <a:extLst>
              <a:ext uri="{FF2B5EF4-FFF2-40B4-BE49-F238E27FC236}">
                <a16:creationId xmlns:a16="http://schemas.microsoft.com/office/drawing/2014/main" id="{6EC89936-56B6-7635-7F57-C62DB8760E41}"/>
              </a:ext>
            </a:extLst>
          </p:cNvPr>
          <p:cNvSpPr txBox="1"/>
          <p:nvPr/>
        </p:nvSpPr>
        <p:spPr>
          <a:xfrm>
            <a:off x="877640" y="4442660"/>
            <a:ext cx="3774488" cy="102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8AF886BE-AF75-BDD0-921B-0B77C3746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 err="1"/>
              <a:t>Comparaciòn</a:t>
            </a:r>
            <a:r>
              <a:rPr lang="en-US" dirty="0"/>
              <a:t> con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apps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45D6AF52-DBC4-D8E2-E140-A516A36FC6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242F3A4-5ABB-59F5-1F6A-21816863C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05079"/>
              </p:ext>
            </p:extLst>
          </p:nvPr>
        </p:nvGraphicFramePr>
        <p:xfrm>
          <a:off x="838200" y="2852048"/>
          <a:ext cx="10515600" cy="1889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780405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3087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81097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8466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Tipo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Acceso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Actualización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Portabilidad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055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Web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Navegador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Automática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Móvil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App 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000"/>
                        <a:t>Manual o desde la tienda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855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Escritorio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Instalador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9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715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>
          <a:extLst>
            <a:ext uri="{FF2B5EF4-FFF2-40B4-BE49-F238E27FC236}">
              <a16:creationId xmlns:a16="http://schemas.microsoft.com/office/drawing/2014/main" id="{830BE64F-DF6A-C969-5A78-F2630FBC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8">
            <a:extLst>
              <a:ext uri="{FF2B5EF4-FFF2-40B4-BE49-F238E27FC236}">
                <a16:creationId xmlns:a16="http://schemas.microsoft.com/office/drawing/2014/main" id="{E4F9D25D-C24F-594B-0850-C3919BD3C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906" y="36202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 err="1"/>
              <a:t>Ejemplos</a:t>
            </a:r>
            <a:r>
              <a:rPr lang="en-US" dirty="0"/>
              <a:t> cruzados</a:t>
            </a:r>
            <a:endParaRPr dirty="0"/>
          </a:p>
        </p:txBody>
      </p:sp>
      <p:pic>
        <p:nvPicPr>
          <p:cNvPr id="279" name="Google Shape;279;p58">
            <a:extLst>
              <a:ext uri="{FF2B5EF4-FFF2-40B4-BE49-F238E27FC236}">
                <a16:creationId xmlns:a16="http://schemas.microsoft.com/office/drawing/2014/main" id="{572E814E-02F7-9577-C663-8322947EB4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6708" y="435258"/>
            <a:ext cx="3684469" cy="4894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2BB91E9-496A-54D1-6E54-88FA04DCA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669" y="1166242"/>
            <a:ext cx="686549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Gmail: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Técnicamente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electrónico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WordPress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CMS):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Técnicamente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MPA con backend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dinámico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Gestor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contenidos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Twitter Lite: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Técnicamente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PWA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 social,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mensajería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contenido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multimedia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Técnicamente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MPA o SSR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Tienda virtual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Maps: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Técnicamente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 (con APIs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intensivas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526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2BF264F7-B6D6-097E-60F2-9F5D6D53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6B3E182F-A5FA-EC20-8736-A6B485573F27}"/>
              </a:ext>
            </a:extLst>
          </p:cNvPr>
          <p:cNvSpPr txBox="1">
            <a:spLocks/>
          </p:cNvSpPr>
          <p:nvPr/>
        </p:nvSpPr>
        <p:spPr>
          <a:xfrm>
            <a:off x="326749" y="935405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s-ES" sz="3200" b="1" dirty="0"/>
              <a:t>🏠 Caso de Estudio: Airbnb</a:t>
            </a:r>
          </a:p>
          <a:p>
            <a:r>
              <a:rPr lang="es-ES" sz="2400" b="1" dirty="0"/>
              <a:t>Tecnologías:</a:t>
            </a:r>
            <a:r>
              <a:rPr lang="es-ES" sz="2400" dirty="0"/>
              <a:t> </a:t>
            </a:r>
          </a:p>
          <a:p>
            <a:r>
              <a:rPr lang="es-ES" sz="2400" dirty="0"/>
              <a:t>Ruby </a:t>
            </a:r>
            <a:r>
              <a:rPr lang="es-ES" sz="2400" dirty="0" err="1"/>
              <a:t>on</a:t>
            </a:r>
            <a:r>
              <a:rPr lang="es-ES" sz="2400" dirty="0"/>
              <a:t> </a:t>
            </a:r>
            <a:r>
              <a:rPr lang="es-ES" sz="2400" dirty="0" err="1"/>
              <a:t>Rails</a:t>
            </a:r>
            <a:r>
              <a:rPr lang="es-ES" sz="2400" dirty="0"/>
              <a:t> + </a:t>
            </a:r>
            <a:r>
              <a:rPr lang="es-ES" sz="2400" dirty="0" err="1"/>
              <a:t>React</a:t>
            </a:r>
            <a:endParaRPr lang="es-ES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103852-0DDD-3BA4-491A-E5E28F1F2B5D}"/>
              </a:ext>
            </a:extLst>
          </p:cNvPr>
          <p:cNvSpPr txBox="1"/>
          <p:nvPr/>
        </p:nvSpPr>
        <p:spPr>
          <a:xfrm>
            <a:off x="326749" y="1716615"/>
            <a:ext cx="5999100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ES" sz="2800" b="1" dirty="0"/>
              <a:t>¿Qué es Airbnb?</a:t>
            </a:r>
          </a:p>
          <a:p>
            <a:pPr algn="just">
              <a:buNone/>
            </a:pPr>
            <a:r>
              <a:rPr lang="es-ES" sz="2000" dirty="0">
                <a:ea typeface="Calibri"/>
              </a:rPr>
              <a:t>Airbnb es una plataforma web global de economía colaborativa que permite a personas alquilar alojamientos a corto plazo (desde habitaciones hasta casas enteras). También ofrece experiencias locales guiadas.</a:t>
            </a:r>
          </a:p>
          <a:p>
            <a:pPr algn="just">
              <a:buNone/>
            </a:pPr>
            <a:endParaRPr lang="es-ES" sz="2000" dirty="0">
              <a:ea typeface="Calibri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ea typeface="Calibri"/>
              </a:rPr>
              <a:t>Fundado en 2008 en San Francisco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ea typeface="Calibri"/>
              </a:rPr>
              <a:t>Opera en más de 190 países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ea typeface="Calibri"/>
              </a:rPr>
              <a:t>Modelo de negocio basado en intermediación digita</a:t>
            </a:r>
          </a:p>
          <a:p>
            <a:pPr algn="just"/>
            <a:endParaRPr lang="en-US" sz="20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4695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462A0DF8-CBE7-F8B7-31EE-AB057020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F795B3E9-9F9C-78FE-8145-9488617B3882}"/>
              </a:ext>
            </a:extLst>
          </p:cNvPr>
          <p:cNvSpPr txBox="1">
            <a:spLocks/>
          </p:cNvSpPr>
          <p:nvPr/>
        </p:nvSpPr>
        <p:spPr>
          <a:xfrm>
            <a:off x="326749" y="935405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s-ES" sz="3200" b="1" dirty="0"/>
              <a:t>🏠 Caso de Estudio: Airbnb</a:t>
            </a:r>
          </a:p>
          <a:p>
            <a:r>
              <a:rPr lang="es-ES" sz="2400" b="1" dirty="0"/>
              <a:t>Arquitectura:</a:t>
            </a:r>
            <a:r>
              <a:rPr lang="es-ES" sz="2400" dirty="0"/>
              <a:t>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FB95E68-B40A-E2D8-778E-D2A46E92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094500"/>
              </p:ext>
            </p:extLst>
          </p:nvPr>
        </p:nvGraphicFramePr>
        <p:xfrm>
          <a:off x="463446" y="1962631"/>
          <a:ext cx="6695568" cy="2468880"/>
        </p:xfrm>
        <a:graphic>
          <a:graphicData uri="http://schemas.openxmlformats.org/drawingml/2006/table">
            <a:tbl>
              <a:tblPr/>
              <a:tblGrid>
                <a:gridCol w="2474626">
                  <a:extLst>
                    <a:ext uri="{9D8B030D-6E8A-4147-A177-3AD203B41FA5}">
                      <a16:colId xmlns:a16="http://schemas.microsoft.com/office/drawing/2014/main" val="1671193568"/>
                    </a:ext>
                  </a:extLst>
                </a:gridCol>
                <a:gridCol w="4220942">
                  <a:extLst>
                    <a:ext uri="{9D8B030D-6E8A-4147-A177-3AD203B41FA5}">
                      <a16:colId xmlns:a16="http://schemas.microsoft.com/office/drawing/2014/main" val="2470033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Tecnología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utilizada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12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Frontend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1"/>
                        <a:t>React</a:t>
                      </a:r>
                      <a:r>
                        <a:rPr lang="es-ES" sz="1800"/>
                        <a:t> (desde 2014 en migración)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6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Backend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Ruby on Rails</a:t>
                      </a:r>
                      <a:r>
                        <a:rPr lang="en-US" sz="1800"/>
                        <a:t> (base original)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40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Infraestructura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AWS, CDN, Kubernetes, </a:t>
                      </a:r>
                      <a:r>
                        <a:rPr lang="en-US" sz="1800" dirty="0" err="1"/>
                        <a:t>herramientas</a:t>
                      </a:r>
                      <a:r>
                        <a:rPr lang="en-US" sz="1800" dirty="0"/>
                        <a:t> de 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0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BD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MySQL, Redis, 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3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API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REST y </a:t>
                      </a:r>
                      <a:r>
                        <a:rPr lang="en-US" sz="1800" dirty="0" err="1"/>
                        <a:t>GraphQL</a:t>
                      </a:r>
                      <a:r>
                        <a:rPr lang="en-US" sz="1800" dirty="0"/>
                        <a:t> (</a:t>
                      </a:r>
                      <a:r>
                        <a:rPr lang="en-US" sz="1800" dirty="0" err="1"/>
                        <a:t>parcialmente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35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230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C5DC543C-912B-4CB0-E003-4A26EE9A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A3DE867C-3792-84D7-2A72-48DB02EAD994}"/>
              </a:ext>
            </a:extLst>
          </p:cNvPr>
          <p:cNvSpPr txBox="1">
            <a:spLocks/>
          </p:cNvSpPr>
          <p:nvPr/>
        </p:nvSpPr>
        <p:spPr>
          <a:xfrm>
            <a:off x="326749" y="935405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s-ES" sz="3200" b="1" dirty="0"/>
              <a:t>🏠 Caso de Estudio: Airbnb</a:t>
            </a:r>
          </a:p>
          <a:p>
            <a:r>
              <a:rPr lang="es-ES" sz="2400" b="1" dirty="0"/>
              <a:t>Porque </a:t>
            </a:r>
            <a:r>
              <a:rPr lang="es-ES" sz="2400" b="1" dirty="0" err="1"/>
              <a:t>Rails</a:t>
            </a:r>
            <a:r>
              <a:rPr lang="es-ES" sz="2400" b="1" dirty="0"/>
              <a:t> + </a:t>
            </a:r>
            <a:r>
              <a:rPr lang="es-ES" sz="2400" b="1" dirty="0" err="1"/>
              <a:t>React</a:t>
            </a:r>
            <a:r>
              <a:rPr lang="es-ES" sz="2400" b="1" dirty="0"/>
              <a:t>:</a:t>
            </a:r>
            <a:r>
              <a:rPr lang="es-ES" sz="2400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4A4237-129B-EDB3-EB35-50ADCB488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36" y="2066630"/>
            <a:ext cx="6096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Rails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rápido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MVP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tradicional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MPA)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introducido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rendimiento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frontend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páginas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búsqueda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formularios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dinámicos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Arquitectura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híbrida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SSR con React + Rails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migrando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gradualmente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clave</a:t>
            </a:r>
          </a:p>
        </p:txBody>
      </p:sp>
    </p:spTree>
    <p:extLst>
      <p:ext uri="{BB962C8B-B14F-4D97-AF65-F5344CB8AC3E}">
        <p14:creationId xmlns:p14="http://schemas.microsoft.com/office/powerpoint/2010/main" val="1094311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5A95C5D9-A907-DBCF-307F-0AA746B7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F85AC437-A51B-7C47-3111-9064526F1FE6}"/>
              </a:ext>
            </a:extLst>
          </p:cNvPr>
          <p:cNvSpPr txBox="1">
            <a:spLocks/>
          </p:cNvSpPr>
          <p:nvPr/>
        </p:nvSpPr>
        <p:spPr>
          <a:xfrm>
            <a:off x="326749" y="935405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s-ES" sz="3200" b="1" dirty="0"/>
              <a:t>🏠 Caso de Estudio: Airbnb</a:t>
            </a:r>
          </a:p>
          <a:p>
            <a:r>
              <a:rPr lang="es-ES" sz="2400" b="1" dirty="0"/>
              <a:t>Funcionalidades clave:</a:t>
            </a:r>
            <a:r>
              <a:rPr lang="es-ES" sz="2400" dirty="0"/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FE4D53-3F99-A380-7840-A5084A92A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49" y="2597051"/>
            <a:ext cx="66797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Buscador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múltiples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Calendario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mensajería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retenciones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zona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geográfica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Paneles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anfitriones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dashboards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personalizados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981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49740493-ED70-54AC-A80A-07E6403E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5;p44">
            <a:extLst>
              <a:ext uri="{FF2B5EF4-FFF2-40B4-BE49-F238E27FC236}">
                <a16:creationId xmlns:a16="http://schemas.microsoft.com/office/drawing/2014/main" id="{0BC0B43B-7A74-88BD-B2FB-75A37F51DA26}"/>
              </a:ext>
            </a:extLst>
          </p:cNvPr>
          <p:cNvSpPr txBox="1">
            <a:spLocks/>
          </p:cNvSpPr>
          <p:nvPr/>
        </p:nvSpPr>
        <p:spPr>
          <a:xfrm>
            <a:off x="326749" y="935405"/>
            <a:ext cx="6832265" cy="61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s-ES" sz="3200" b="1" dirty="0"/>
              <a:t>🏠 Caso de Estudio: Airbnb</a:t>
            </a:r>
          </a:p>
          <a:p>
            <a:r>
              <a:rPr lang="es-ES" sz="2400" b="1" dirty="0"/>
              <a:t>Retos enfrentados:</a:t>
            </a:r>
            <a:r>
              <a:rPr lang="es-ES" sz="2400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CEE073-1CBD-B14D-0EC2-5FAB6C696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49" y="2613392"/>
            <a:ext cx="698845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monolito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ciertas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secciones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Complejidad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creciente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frameworks (React + Rails views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tradicionales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Costos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infraestructura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crecer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tráfico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54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6181CE8D-7570-6F96-A385-9DB450EC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A610A97A-0003-3AE7-A63D-2A22272E6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DF27E5B-F288-D2B7-B0FD-5DAD30B9CA73}"/>
              </a:ext>
            </a:extLst>
          </p:cNvPr>
          <p:cNvSpPr txBox="1"/>
          <p:nvPr/>
        </p:nvSpPr>
        <p:spPr>
          <a:xfrm>
            <a:off x="6096000" y="2545283"/>
            <a:ext cx="498003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None/>
            </a:pP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Netflix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 es una plataforma global de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streaming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 de video bajo demanda, con más de 260 millones de usuarios en todo el mundo. Ofrece series, películas, documentales y contenido original.</a:t>
            </a:r>
          </a:p>
          <a:p>
            <a:pPr algn="just">
              <a:buNone/>
            </a:pPr>
            <a:endParaRPr lang="es-E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Fundado en 1997 como empresa de alquiler de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DVDs</a:t>
            </a:r>
            <a:endParaRPr lang="es-E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Evolucionó a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streaming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 en 2007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</a:rPr>
              <a:t>Líder en contenido personalizado y tecnología de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streaming</a:t>
            </a:r>
            <a:endParaRPr lang="es-E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2000" dirty="0"/>
              <a:t>.  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699776-FFCF-8C3C-2217-28878747E53B}"/>
              </a:ext>
            </a:extLst>
          </p:cNvPr>
          <p:cNvSpPr txBox="1"/>
          <p:nvPr/>
        </p:nvSpPr>
        <p:spPr>
          <a:xfrm>
            <a:off x="4862615" y="1092194"/>
            <a:ext cx="65748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Tecnologías</a:t>
            </a:r>
            <a:r>
              <a:rPr lang="en-US" sz="2400" b="1" dirty="0"/>
              <a:t>: </a:t>
            </a:r>
          </a:p>
          <a:p>
            <a:r>
              <a:rPr lang="pt-BR" sz="2400" dirty="0" err="1"/>
              <a:t>React</a:t>
            </a:r>
            <a:r>
              <a:rPr lang="pt-BR" sz="2400" dirty="0"/>
              <a:t> (SPA) + </a:t>
            </a:r>
            <a:r>
              <a:rPr lang="pt-BR" sz="2400" dirty="0" err="1"/>
              <a:t>Arquitectura</a:t>
            </a:r>
            <a:r>
              <a:rPr lang="pt-BR" sz="2400" dirty="0"/>
              <a:t> de </a:t>
            </a:r>
            <a:r>
              <a:rPr lang="pt-BR" sz="2400" dirty="0" err="1"/>
              <a:t>Microservicios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6892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570C3F7A-E7C8-4264-D4DE-DF00373C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FBD8EC2C-2567-19BA-219A-FE62126ADA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441999-587A-4C62-6AA0-437E1A3CEE12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Arquitectura</a:t>
            </a:r>
            <a:r>
              <a:rPr lang="en-US" sz="2400" b="1" dirty="0"/>
              <a:t>: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F8C4EE6-F328-D46A-F89F-C9AE1970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170967"/>
              </p:ext>
            </p:extLst>
          </p:nvPr>
        </p:nvGraphicFramePr>
        <p:xfrm>
          <a:off x="6096000" y="2393294"/>
          <a:ext cx="5761220" cy="3870960"/>
        </p:xfrm>
        <a:graphic>
          <a:graphicData uri="http://schemas.openxmlformats.org/drawingml/2006/table">
            <a:tbl>
              <a:tblPr/>
              <a:tblGrid>
                <a:gridCol w="1990495">
                  <a:extLst>
                    <a:ext uri="{9D8B030D-6E8A-4147-A177-3AD203B41FA5}">
                      <a16:colId xmlns:a16="http://schemas.microsoft.com/office/drawing/2014/main" val="2057138004"/>
                    </a:ext>
                  </a:extLst>
                </a:gridCol>
                <a:gridCol w="3770725">
                  <a:extLst>
                    <a:ext uri="{9D8B030D-6E8A-4147-A177-3AD203B41FA5}">
                      <a16:colId xmlns:a16="http://schemas.microsoft.com/office/drawing/2014/main" val="2452930430"/>
                    </a:ext>
                  </a:extLst>
                </a:gridCol>
              </a:tblGrid>
              <a:tr h="362341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Capa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Tecnología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utilizada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873555"/>
                  </a:ext>
                </a:extLst>
              </a:tr>
              <a:tr h="615980">
                <a:tc>
                  <a:txBody>
                    <a:bodyPr/>
                    <a:lstStyle/>
                    <a:p>
                      <a:r>
                        <a:rPr lang="en-US" sz="1800" b="1"/>
                        <a:t>Frontend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React SPA</a:t>
                      </a:r>
                      <a:r>
                        <a:rPr lang="en-US" sz="1800" dirty="0"/>
                        <a:t> (Single Page Application)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14779"/>
                  </a:ext>
                </a:extLst>
              </a:tr>
              <a:tr h="615980">
                <a:tc>
                  <a:txBody>
                    <a:bodyPr/>
                    <a:lstStyle/>
                    <a:p>
                      <a:r>
                        <a:rPr lang="en-US" sz="1800" b="1"/>
                        <a:t>Backend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Microservicios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en</a:t>
                      </a:r>
                      <a:r>
                        <a:rPr lang="en-US" sz="1800" dirty="0"/>
                        <a:t> </a:t>
                      </a:r>
                      <a:r>
                        <a:rPr lang="en-US" sz="1800" b="1" dirty="0"/>
                        <a:t>Java</a:t>
                      </a:r>
                      <a:r>
                        <a:rPr lang="en-US" sz="1800" dirty="0"/>
                        <a:t>, </a:t>
                      </a:r>
                      <a:r>
                        <a:rPr lang="en-US" sz="1800" b="1" dirty="0"/>
                        <a:t>Node.js</a:t>
                      </a:r>
                      <a:r>
                        <a:rPr lang="en-US" sz="1800" dirty="0"/>
                        <a:t>, </a:t>
                      </a:r>
                      <a:r>
                        <a:rPr lang="en-US" sz="1800" b="1" dirty="0"/>
                        <a:t>Python</a:t>
                      </a:r>
                      <a:r>
                        <a:rPr lang="en-US" sz="1800" dirty="0"/>
                        <a:t>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901"/>
                  </a:ext>
                </a:extLst>
              </a:tr>
              <a:tr h="869619">
                <a:tc>
                  <a:txBody>
                    <a:bodyPr/>
                    <a:lstStyle/>
                    <a:p>
                      <a:r>
                        <a:rPr lang="en-US" sz="1800" b="1"/>
                        <a:t>Infraestructura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AWS, CDN, microservicios, contenedores, Spinnaker, Chaos Monkey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523974"/>
                  </a:ext>
                </a:extLst>
              </a:tr>
              <a:tr h="615980">
                <a:tc>
                  <a:txBody>
                    <a:bodyPr/>
                    <a:lstStyle/>
                    <a:p>
                      <a:r>
                        <a:rPr lang="en-US" sz="1800" b="1"/>
                        <a:t>BD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Cassandra, MySQL, Elasticsearch, Dynomite (Redis-like)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508889"/>
                  </a:ext>
                </a:extLst>
              </a:tr>
              <a:tr h="615980">
                <a:tc>
                  <a:txBody>
                    <a:bodyPr/>
                    <a:lstStyle/>
                    <a:p>
                      <a:r>
                        <a:rPr lang="en-US" sz="1800" b="1"/>
                        <a:t>APIs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REST, </a:t>
                      </a:r>
                      <a:r>
                        <a:rPr lang="en-US" sz="1800" dirty="0" err="1"/>
                        <a:t>GraphQL</a:t>
                      </a:r>
                      <a:r>
                        <a:rPr lang="en-US" sz="1800" dirty="0"/>
                        <a:t>, y </a:t>
                      </a:r>
                      <a:r>
                        <a:rPr lang="en-US" sz="1800" dirty="0" err="1"/>
                        <a:t>servicios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internos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altamente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distribuidos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5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50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9E767796-B43C-83D8-A493-4FC0C01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E8228CFA-BDC8-8FAF-6E8A-4EC827302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8BEBD9-5418-EE8D-4973-98DD570F5DA8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Porque</a:t>
            </a:r>
            <a:r>
              <a:rPr lang="en-US" sz="2400" b="1" dirty="0"/>
              <a:t> React + SPA?: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8C9A5-D965-5598-172A-6873CEF2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108" y="2872547"/>
            <a:ext cx="601105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interfaz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fluida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rápida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ideal para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navegación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“scroll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infinito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recargas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página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esencial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dispositivos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Smart TVs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experiencia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permitiendo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vistas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dinámicas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763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39E90144-DD05-1E72-D444-7A40F99F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1B220003-DB91-A367-CD42-1FC322E33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E3CB9E-936F-AFF4-E639-257C208B994D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Arquitectura</a:t>
            </a:r>
            <a:r>
              <a:rPr lang="en-US" sz="2400" b="1" dirty="0"/>
              <a:t> de </a:t>
            </a:r>
            <a:r>
              <a:rPr lang="en-US" sz="2400" b="1" dirty="0" err="1"/>
              <a:t>microservicios</a:t>
            </a:r>
            <a:endParaRPr lang="en-US" sz="2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6AB389D-26F3-25FA-6E56-77A67DC50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318650"/>
            <a:ext cx="55742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Netflix opera con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700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microservicios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independiente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catálogo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recomendaciones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facturación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APIs REST 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gRPC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intensivo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contenedores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Eureka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descubrimiento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(gateway), 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Ribbon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carga)</a:t>
            </a:r>
          </a:p>
        </p:txBody>
      </p:sp>
    </p:spTree>
    <p:extLst>
      <p:ext uri="{BB962C8B-B14F-4D97-AF65-F5344CB8AC3E}">
        <p14:creationId xmlns:p14="http://schemas.microsoft.com/office/powerpoint/2010/main" val="3925585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205FEEF-CC26-809E-31BB-BD0B2779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CBC49630-0F44-8A6E-3673-D60416D26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9A2123-7743-1ED5-98B2-219F4D00513E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Funcionalidades</a:t>
            </a:r>
            <a:r>
              <a:rPr lang="en-US" sz="2400" b="1" dirty="0"/>
              <a:t> clave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F30AB-4D6F-FF44-62D8-A97F3C364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71070"/>
            <a:ext cx="58531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recomendación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adaptativo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según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ancho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Soporte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múltiples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dispositivos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Contenido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localizado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geoblocking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subtítulos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audio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multilenguaje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211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8548A7F2-9C1E-2A4B-0566-BC52A2A2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2B5DC789-6B18-1BA9-3CA3-51131618D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5ED370-C69D-F3E4-949C-778A89A3B974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Ventajas</a:t>
            </a:r>
            <a:r>
              <a:rPr lang="en-US" sz="2400" b="1" dirty="0"/>
              <a:t> de </a:t>
            </a:r>
            <a:r>
              <a:rPr lang="en-US" sz="2400" b="1" dirty="0" err="1"/>
              <a:t>arquitectura</a:t>
            </a:r>
            <a:endParaRPr lang="en-US" sz="2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CCB99F6-0BDA-2E55-E8E1-80C5CB044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69355"/>
            <a:ext cx="553136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disponibilidad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tolerancia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(gracias a Chaos Engineering)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extrema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millones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concurrentes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continua (CI/CD)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despliegues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interrupciones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587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48146DA8-ACB9-73DC-EC71-1926523F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>
            <a:extLst>
              <a:ext uri="{FF2B5EF4-FFF2-40B4-BE49-F238E27FC236}">
                <a16:creationId xmlns:a16="http://schemas.microsoft.com/office/drawing/2014/main" id="{CA62BEE1-9BFA-C67C-8C7E-DBA8400A7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7156" y="0"/>
            <a:ext cx="5580464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es-ES" sz="3200" b="1" dirty="0"/>
              <a:t>📺 Caso de Estudio: Netflix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25BC6B-A70C-6F6E-8CBE-2A85966BA316}"/>
              </a:ext>
            </a:extLst>
          </p:cNvPr>
          <p:cNvSpPr txBox="1"/>
          <p:nvPr/>
        </p:nvSpPr>
        <p:spPr>
          <a:xfrm>
            <a:off x="4862615" y="1092194"/>
            <a:ext cx="657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Retos</a:t>
            </a:r>
            <a:r>
              <a:rPr lang="en-US" sz="2400" b="1" dirty="0"/>
              <a:t> </a:t>
            </a:r>
            <a:r>
              <a:rPr lang="en-US" sz="2400" b="1" dirty="0" err="1"/>
              <a:t>enfrentados</a:t>
            </a:r>
            <a:endParaRPr lang="en-US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948E3-30DB-E303-0813-FF593A94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818074"/>
            <a:ext cx="57612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Complejidad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cientos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microservicios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avanzado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tolerancia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Chaos Monkey)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Costos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elevados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infraestructura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intensivo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AWS)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bases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distribuidas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</a:t>
            </a:r>
          </a:p>
        </p:txBody>
      </p:sp>
    </p:spTree>
    <p:extLst>
      <p:ext uri="{BB962C8B-B14F-4D97-AF65-F5344CB8AC3E}">
        <p14:creationId xmlns:p14="http://schemas.microsoft.com/office/powerpoint/2010/main" val="11303941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012" y="576263"/>
            <a:ext cx="4646332" cy="2852737"/>
          </a:xfrm>
        </p:spPr>
        <p:txBody>
          <a:bodyPr wrap="square" anchor="ctr">
            <a:normAutofit/>
          </a:bodyPr>
          <a:lstStyle/>
          <a:p>
            <a:r>
              <a:rPr dirty="0" err="1"/>
              <a:t>Preguntas</a:t>
            </a:r>
            <a:r>
              <a:rPr dirty="0"/>
              <a:t> para </a:t>
            </a:r>
            <a:r>
              <a:rPr dirty="0" err="1"/>
              <a:t>Discusión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109011" y="3028013"/>
            <a:ext cx="4646331" cy="2683239"/>
          </a:xfrm>
        </p:spPr>
        <p:txBody>
          <a:bodyPr wrap="square" anchor="t">
            <a:normAutofit/>
          </a:bodyPr>
          <a:lstStyle/>
          <a:p>
            <a:r>
              <a:rPr lang="es-ES" sz="2000" b="1" dirty="0"/>
              <a:t>- ¿Qué </a:t>
            </a:r>
            <a:r>
              <a:rPr lang="es-ES" sz="2000" b="1" dirty="0" err="1"/>
              <a:t>stack</a:t>
            </a:r>
            <a:r>
              <a:rPr lang="es-ES" sz="2000" b="1" dirty="0"/>
              <a:t> usarías para una app de hoteles?</a:t>
            </a:r>
          </a:p>
          <a:p>
            <a:r>
              <a:rPr lang="es-ES" sz="2000" b="1" dirty="0"/>
              <a:t>- ¿Por qué iniciar con una app web antes que móvil?</a:t>
            </a:r>
          </a:p>
          <a:p>
            <a:r>
              <a:rPr lang="es-ES" sz="2000" b="1" dirty="0"/>
              <a:t>- ¿Ventajas de SPA vs MPA?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3"/>
          <p:cNvSpPr txBox="1"/>
          <p:nvPr/>
        </p:nvSpPr>
        <p:spPr>
          <a:xfrm>
            <a:off x="9962388" y="6582147"/>
            <a:ext cx="307365" cy="22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9F9D031-8AAA-B4F8-0E45-1280581F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732"/>
            <a:ext cx="12192000" cy="62645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4"/>
          <p:cNvSpPr/>
          <p:nvPr/>
        </p:nvSpPr>
        <p:spPr>
          <a:xfrm>
            <a:off x="523383" y="4500329"/>
            <a:ext cx="468126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 19 Bis # 1 – 67, Bloque ÑL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PBX (+601) 332 4363 Ext: 3491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WhatsApp: 312 410 4951</a:t>
            </a:r>
            <a:b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m.cuervogonzalez@uniandes.edu.co</a:t>
            </a:r>
            <a:endParaRPr/>
          </a:p>
        </p:txBody>
      </p:sp>
      <p:sp>
        <p:nvSpPr>
          <p:cNvPr id="340" name="Google Shape;340;p64"/>
          <p:cNvSpPr/>
          <p:nvPr/>
        </p:nvSpPr>
        <p:spPr>
          <a:xfrm>
            <a:off x="304800" y="2388637"/>
            <a:ext cx="7001691" cy="1013471"/>
          </a:xfrm>
          <a:prstGeom prst="roundRect">
            <a:avLst>
              <a:gd name="adj" fmla="val 8381"/>
            </a:avLst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4"/>
          <p:cNvSpPr/>
          <p:nvPr/>
        </p:nvSpPr>
        <p:spPr>
          <a:xfrm>
            <a:off x="514053" y="3946089"/>
            <a:ext cx="46812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Síguenos: @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cienciasuniandes</a:t>
            </a:r>
            <a:endParaRPr/>
          </a:p>
        </p:txBody>
      </p:sp>
      <p:pic>
        <p:nvPicPr>
          <p:cNvPr id="342" name="Google Shape;342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2432" y="3914855"/>
            <a:ext cx="2032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64"/>
          <p:cNvSpPr txBox="1">
            <a:spLocks noGrp="1"/>
          </p:cNvSpPr>
          <p:nvPr>
            <p:ph type="ctrTitle"/>
          </p:nvPr>
        </p:nvSpPr>
        <p:spPr>
          <a:xfrm>
            <a:off x="2241962" y="2584413"/>
            <a:ext cx="3127366" cy="62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¡GRACIAS!</a:t>
            </a:r>
            <a:endParaRPr/>
          </a:p>
        </p:txBody>
      </p:sp>
      <p:sp>
        <p:nvSpPr>
          <p:cNvPr id="344" name="Google Shape;344;p6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3491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4"/>
          <p:cNvSpPr/>
          <p:nvPr/>
        </p:nvSpPr>
        <p:spPr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3491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CO">
  <a:themeElements>
    <a:clrScheme name="Personalizado 3">
      <a:dk1>
        <a:srgbClr val="1C1711"/>
      </a:dk1>
      <a:lt1>
        <a:srgbClr val="FFFFFF"/>
      </a:lt1>
      <a:dk2>
        <a:srgbClr val="D3E8FF"/>
      </a:dk2>
      <a:lt2>
        <a:srgbClr val="F7F2ED"/>
      </a:lt2>
      <a:accent1>
        <a:srgbClr val="FFEA81"/>
      </a:accent1>
      <a:accent2>
        <a:srgbClr val="96EBFF"/>
      </a:accent2>
      <a:accent3>
        <a:srgbClr val="A05FFF"/>
      </a:accent3>
      <a:accent4>
        <a:srgbClr val="F95F5F"/>
      </a:accent4>
      <a:accent5>
        <a:srgbClr val="FC9B44"/>
      </a:accent5>
      <a:accent6>
        <a:srgbClr val="86D166"/>
      </a:accent6>
      <a:hlink>
        <a:srgbClr val="BCD4EB"/>
      </a:hlink>
      <a:folHlink>
        <a:srgbClr val="6A9F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3188</Words>
  <Application>Microsoft Office PowerPoint</Application>
  <PresentationFormat>Panorámica</PresentationFormat>
  <Paragraphs>420</Paragraphs>
  <Slides>51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51</vt:i4>
      </vt:variant>
    </vt:vector>
  </HeadingPairs>
  <TitlesOfParts>
    <vt:vector size="59" baseType="lpstr">
      <vt:lpstr>Trebuchet MS</vt:lpstr>
      <vt:lpstr>Calibri</vt:lpstr>
      <vt:lpstr>Arial</vt:lpstr>
      <vt:lpstr>Cambria</vt:lpstr>
      <vt:lpstr>Symbol</vt:lpstr>
      <vt:lpstr>Candara</vt:lpstr>
      <vt:lpstr>Theme Office</vt:lpstr>
      <vt:lpstr>EDCO</vt:lpstr>
      <vt:lpstr>Presentación de PowerPoint</vt:lpstr>
      <vt:lpstr>Contenido</vt:lpstr>
      <vt:lpstr>Contenido</vt:lpstr>
      <vt:lpstr>Presentación de PowerPoint</vt:lpstr>
      <vt:lpstr>Presentación de PowerPoint</vt:lpstr>
      <vt:lpstr>Presentación de PowerPoint</vt:lpstr>
      <vt:lpstr>¿beneficios de una Aplicación Web? </vt:lpstr>
      <vt:lpstr>¿beneficios de una Aplicación Web? </vt:lpstr>
      <vt:lpstr>¿beneficios de una Aplicación Web? </vt:lpstr>
      <vt:lpstr>¿beneficios de una Aplicación Web?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📺 Caso de Estudio: Netflix</vt:lpstr>
      <vt:lpstr>📺 Caso de Estudio: Netflix</vt:lpstr>
      <vt:lpstr>📺 Caso de Estudio: Netflix</vt:lpstr>
      <vt:lpstr>📺 Caso de Estudio: Netflix</vt:lpstr>
      <vt:lpstr>📺 Caso de Estudio: Netflix</vt:lpstr>
      <vt:lpstr>📺 Caso de Estudio: Netflix</vt:lpstr>
      <vt:lpstr>📺 Caso de Estudio: Netflix</vt:lpstr>
      <vt:lpstr>Preguntas para Discusión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Carlos Vega Delgado</cp:lastModifiedBy>
  <cp:revision>286</cp:revision>
  <dcterms:modified xsi:type="dcterms:W3CDTF">2025-09-08T22:22:27Z</dcterms:modified>
</cp:coreProperties>
</file>